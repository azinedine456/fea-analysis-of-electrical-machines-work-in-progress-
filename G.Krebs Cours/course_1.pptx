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72" r:id="rId6"/>
    <p:sldId id="261" r:id="rId7"/>
    <p:sldId id="271" r:id="rId8"/>
    <p:sldId id="270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00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125" d="100"/>
          <a:sy n="125" d="100"/>
        </p:scale>
        <p:origin x="90" y="-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C8D667-75BE-6359-9C0D-BF99C499E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6650E00-8B1C-AE02-DFF3-AFF64AA81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3C6141-D437-C9EF-BB09-5C683258A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21D1-3815-42CA-844C-6F98A5DF3B87}" type="datetimeFigureOut">
              <a:rPr lang="fr-FR" smtClean="0"/>
              <a:t>11/10/2026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5E28F9-ACF5-5F97-29E9-770209D7A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AB8A82-396E-9FC1-DA66-98FE697E5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04327-4161-4D21-9D60-643967C0D3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1740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389821-791D-81B0-A641-1E1CBD7A7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CA018C-F230-9A82-E303-3F308D331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4A65B4-A6B1-7457-1852-0A9CCF482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21D1-3815-42CA-844C-6F98A5DF3B87}" type="datetimeFigureOut">
              <a:rPr lang="fr-FR" smtClean="0"/>
              <a:t>11/10/2026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BBF4D1-83CE-BB93-A952-472178113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9D55DB-7C8C-54C4-DFAF-D172A62AD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04327-4161-4D21-9D60-643967C0D3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4046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F4B2F5-883E-3280-364C-6F27E0725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59167D-3255-3EF8-E124-A800FDE17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0498E0-C2A1-66C3-55E1-87E884386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21D1-3815-42CA-844C-6F98A5DF3B87}" type="datetimeFigureOut">
              <a:rPr lang="fr-FR" smtClean="0"/>
              <a:t>11/10/2026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F51F54-F652-9DB3-84D0-BA80DC184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8E7145-4679-5F15-1FD4-A02EFCDE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04327-4161-4D21-9D60-643967C0D3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5911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C772A1-4A35-66D7-DA09-2A4CC8669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1A2327-CB14-1FEE-B560-52C332A62A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EA40F65-7C86-7208-8E31-D0EC4DD3C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866D39B-8F17-80F2-6E30-4766F80C4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21D1-3815-42CA-844C-6F98A5DF3B87}" type="datetimeFigureOut">
              <a:rPr lang="fr-FR" smtClean="0"/>
              <a:t>11/10/2026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EA5056-01AA-BB66-BEE0-0D3B03F73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3BC8D6A-901C-2AC1-ACAF-4CAB5E0DF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04327-4161-4D21-9D60-643967C0D3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409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E3D26C-2A1E-9DE4-0263-E3F374A0A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3B2452-D03F-5FB4-CD5B-55F1EEBC0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314B46A-76E3-9DEC-9458-9E8E559B7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9F89088-E211-99A9-7157-6791E3EF86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D9FF937-4719-3C21-CC5B-574AFF9A11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31CBB78-507B-3247-3EEE-2E29DFE16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21D1-3815-42CA-844C-6F98A5DF3B87}" type="datetimeFigureOut">
              <a:rPr lang="fr-FR" smtClean="0"/>
              <a:t>11/10/2026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368EFC5-C9FE-011F-231F-56FCD902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95E6D5D-AE0C-8765-EF39-E4932EA8C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04327-4161-4D21-9D60-643967C0D3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4126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9CDF7-4982-0891-AF67-7F435319E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699410A-1322-1C6F-FF2F-CCB798E76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21D1-3815-42CA-844C-6F98A5DF3B87}" type="datetimeFigureOut">
              <a:rPr lang="fr-FR" smtClean="0"/>
              <a:t>11/10/2026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EAB36E1-6EDC-D1A4-1B6B-6B2D4BDC2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2336392-2C90-C678-D69B-2D6065E4F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04327-4161-4D21-9D60-643967C0D3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2648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195824A-9A4E-D8F5-054F-35A69C026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21D1-3815-42CA-844C-6F98A5DF3B87}" type="datetimeFigureOut">
              <a:rPr lang="fr-FR" smtClean="0"/>
              <a:t>11/10/2026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83528EB-CFF3-91A0-1B0C-AC9A439C6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30B2DBF-DCEF-F0F8-29E9-B6C76848B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04327-4161-4D21-9D60-643967C0D3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8333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163D34-AAE1-749A-E0EF-723180E8A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2586E2-74D8-5F76-FABF-56041E21E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13A051-BA2E-09A8-24CD-5DFCC388D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4D822E4-186A-EBB2-D5AB-E451C3B88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21D1-3815-42CA-844C-6F98A5DF3B87}" type="datetimeFigureOut">
              <a:rPr lang="fr-FR" smtClean="0"/>
              <a:t>11/10/2026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101283-489B-4CC1-0909-2A96E1C8D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1F394B6-FF21-09E6-222A-525DCA68C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04327-4161-4D21-9D60-643967C0D3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0294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EA6BC5-1963-D2F6-CDC3-3AB45BD71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DD4233F-857C-10F2-5AA9-E265A00CB30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98D99C7-B7F3-9946-7211-B781453CDF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5D04A95-F0E8-2351-981A-708C8481A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21D1-3815-42CA-844C-6F98A5DF3B87}" type="datetimeFigureOut">
              <a:rPr lang="fr-FR" smtClean="0"/>
              <a:t>11/10/2026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932DE5B-9BB0-9BCE-80F9-EA341350F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CD23C79-0B4B-FB50-2ED8-857F0AF6D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04327-4161-4D21-9D60-643967C0D3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894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F523F5-205D-D784-9D3B-F0D5F226F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F6720D2-EE51-BEC0-3DA4-379C299EA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53EBB1-B820-BBBD-CCB3-6B68CBD01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21D1-3815-42CA-844C-6F98A5DF3B87}" type="datetimeFigureOut">
              <a:rPr lang="fr-FR" smtClean="0"/>
              <a:t>11/10/2026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992CE5-D224-DAA0-F662-1F8F2BC54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9AE643-ADD1-1C77-6976-58A8C96AD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04327-4161-4D21-9D60-643967C0D3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5269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B6348E2-9189-55BA-5CD1-B1B907E02C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13C77D4-ABE2-A922-0552-F94B8160E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52FBA2-DDD1-A471-F99E-F86EFC1FE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21D1-3815-42CA-844C-6F98A5DF3B87}" type="datetimeFigureOut">
              <a:rPr lang="fr-FR" smtClean="0"/>
              <a:t>11/10/2026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2A0DFD-8788-B660-6F98-10048459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2D62ED-A073-2BEB-ABDD-9A201C4A5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04327-4161-4D21-9D60-643967C0D3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5573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9B75C6F-4AEE-296E-6BEA-DE3884D95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A0E44D-82FB-81FD-133C-8E9E94D25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BF098D-5B45-C3E1-C2E9-72029AF75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8A21D1-3815-42CA-844C-6F98A5DF3B87}" type="datetimeFigureOut">
              <a:rPr lang="fr-FR" smtClean="0"/>
              <a:t>11/10/2026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79F2F1-AE16-5019-5307-32653554E3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030340-82F3-14A9-5380-42D68684A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04327-4161-4D21-9D60-643967C0D3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3641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guillaume.krebs@universite-paris-saclay.f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FA4E7E4-7E80-0F92-10CF-F8EE3D1E8D14}"/>
              </a:ext>
            </a:extLst>
          </p:cNvPr>
          <p:cNvSpPr txBox="1"/>
          <p:nvPr/>
        </p:nvSpPr>
        <p:spPr>
          <a:xfrm>
            <a:off x="2883243" y="2499834"/>
            <a:ext cx="64255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 err="1"/>
              <a:t>Electrical</a:t>
            </a:r>
            <a:r>
              <a:rPr lang="fr-FR" sz="3600" dirty="0"/>
              <a:t> </a:t>
            </a:r>
            <a:r>
              <a:rPr lang="fr-FR" sz="3600" dirty="0" err="1"/>
              <a:t>Actuators</a:t>
            </a:r>
            <a:r>
              <a:rPr lang="fr-FR" sz="3600" dirty="0"/>
              <a:t> Courses</a:t>
            </a:r>
          </a:p>
          <a:p>
            <a:pPr algn="ctr"/>
            <a:r>
              <a:rPr lang="fr-FR" sz="3600" dirty="0"/>
              <a:t> </a:t>
            </a:r>
          </a:p>
          <a:p>
            <a:pPr algn="ctr"/>
            <a:r>
              <a:rPr lang="fr-FR" sz="3600" dirty="0"/>
              <a:t>Guillaume Krebs</a:t>
            </a:r>
          </a:p>
          <a:p>
            <a:pPr algn="ctr"/>
            <a:r>
              <a:rPr lang="fr-FR" dirty="0">
                <a:solidFill>
                  <a:srgbClr val="6C004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guillaume.krebs@universite-paris-saclay.fr</a:t>
            </a:r>
            <a:endParaRPr lang="fr-FR" dirty="0">
              <a:solidFill>
                <a:srgbClr val="6C0042"/>
              </a:solidFill>
            </a:endParaRPr>
          </a:p>
        </p:txBody>
      </p:sp>
      <p:pic>
        <p:nvPicPr>
          <p:cNvPr id="5" name="Image 4" descr="File:Logo Université Paris-Saclay (ComUE).svg">
            <a:extLst>
              <a:ext uri="{FF2B5EF4-FFF2-40B4-BE49-F238E27FC236}">
                <a16:creationId xmlns:a16="http://schemas.microsoft.com/office/drawing/2014/main" id="{900A7BC8-F8A3-9766-B871-4F892BCFB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37" y="200668"/>
            <a:ext cx="1315995" cy="445519"/>
          </a:xfrm>
          <a:prstGeom prst="rect">
            <a:avLst/>
          </a:prstGeom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C73306BF-9F53-204B-FC2F-8CD7618D694A}"/>
              </a:ext>
            </a:extLst>
          </p:cNvPr>
          <p:cNvCxnSpPr/>
          <p:nvPr/>
        </p:nvCxnSpPr>
        <p:spPr>
          <a:xfrm>
            <a:off x="389237" y="864973"/>
            <a:ext cx="11547390" cy="0"/>
          </a:xfrm>
          <a:prstGeom prst="line">
            <a:avLst/>
          </a:prstGeom>
          <a:ln>
            <a:solidFill>
              <a:srgbClr val="6C0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55DD4520-3FE0-3DB8-60ED-9058CE4ED3F1}"/>
              </a:ext>
            </a:extLst>
          </p:cNvPr>
          <p:cNvSpPr txBox="1"/>
          <p:nvPr/>
        </p:nvSpPr>
        <p:spPr>
          <a:xfrm>
            <a:off x="10523839" y="6372307"/>
            <a:ext cx="166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2026-2027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7A2B6AF-2576-5650-0B01-DC91E8C0F6AF}"/>
              </a:ext>
            </a:extLst>
          </p:cNvPr>
          <p:cNvSpPr txBox="1"/>
          <p:nvPr/>
        </p:nvSpPr>
        <p:spPr>
          <a:xfrm>
            <a:off x="9588843" y="216662"/>
            <a:ext cx="2347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rgbClr val="6C0042"/>
                </a:solidFill>
              </a:rPr>
              <a:t>Master 2 PIE</a:t>
            </a:r>
          </a:p>
        </p:txBody>
      </p:sp>
    </p:spTree>
    <p:extLst>
      <p:ext uri="{BB962C8B-B14F-4D97-AF65-F5344CB8AC3E}">
        <p14:creationId xmlns:p14="http://schemas.microsoft.com/office/powerpoint/2010/main" val="3261007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82657-78A5-0D00-3CC6-F58DFF097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1225785F-8C23-F519-46D7-660709732D10}"/>
              </a:ext>
            </a:extLst>
          </p:cNvPr>
          <p:cNvCxnSpPr>
            <a:cxnSpLocks/>
          </p:cNvCxnSpPr>
          <p:nvPr/>
        </p:nvCxnSpPr>
        <p:spPr>
          <a:xfrm>
            <a:off x="433459" y="579473"/>
            <a:ext cx="6782830" cy="0"/>
          </a:xfrm>
          <a:prstGeom prst="line">
            <a:avLst/>
          </a:prstGeom>
          <a:ln>
            <a:solidFill>
              <a:srgbClr val="6C0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39AC1A0A-3797-291C-4B76-4CA77588F9CB}"/>
              </a:ext>
            </a:extLst>
          </p:cNvPr>
          <p:cNvSpPr txBox="1"/>
          <p:nvPr/>
        </p:nvSpPr>
        <p:spPr>
          <a:xfrm>
            <a:off x="10523839" y="6372307"/>
            <a:ext cx="166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2026-2027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37FC47D-FB23-2701-D44B-3D2CE37C5754}"/>
              </a:ext>
            </a:extLst>
          </p:cNvPr>
          <p:cNvSpPr txBox="1"/>
          <p:nvPr/>
        </p:nvSpPr>
        <p:spPr>
          <a:xfrm>
            <a:off x="370703" y="117808"/>
            <a:ext cx="759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C0042"/>
                </a:solidFill>
              </a:rPr>
              <a:t>Study of a </a:t>
            </a:r>
            <a:r>
              <a:rPr lang="fr-FR" sz="2400" dirty="0" err="1">
                <a:solidFill>
                  <a:srgbClr val="6C0042"/>
                </a:solidFill>
              </a:rPr>
              <a:t>synchronous</a:t>
            </a:r>
            <a:r>
              <a:rPr lang="fr-FR" sz="2400" dirty="0">
                <a:solidFill>
                  <a:srgbClr val="6C0042"/>
                </a:solidFill>
              </a:rPr>
              <a:t> </a:t>
            </a:r>
            <a:r>
              <a:rPr lang="fr-FR" sz="2400" dirty="0" err="1">
                <a:solidFill>
                  <a:srgbClr val="6C0042"/>
                </a:solidFill>
              </a:rPr>
              <a:t>motor</a:t>
            </a:r>
            <a:r>
              <a:rPr lang="fr-FR" sz="2400" dirty="0">
                <a:solidFill>
                  <a:srgbClr val="6C0042"/>
                </a:solidFill>
              </a:rPr>
              <a:t> </a:t>
            </a:r>
            <a:r>
              <a:rPr lang="fr-FR" sz="2400" dirty="0" err="1">
                <a:solidFill>
                  <a:srgbClr val="6C0042"/>
                </a:solidFill>
              </a:rPr>
              <a:t>with</a:t>
            </a:r>
            <a:r>
              <a:rPr lang="fr-FR" sz="2400" dirty="0">
                <a:solidFill>
                  <a:srgbClr val="6C0042"/>
                </a:solidFill>
              </a:rPr>
              <a:t> a </a:t>
            </a:r>
            <a:r>
              <a:rPr lang="fr-FR" sz="2400" dirty="0" err="1">
                <a:solidFill>
                  <a:srgbClr val="6C0042"/>
                </a:solidFill>
              </a:rPr>
              <a:t>wound</a:t>
            </a:r>
            <a:r>
              <a:rPr lang="fr-FR" sz="2400" dirty="0">
                <a:solidFill>
                  <a:srgbClr val="6C0042"/>
                </a:solidFill>
              </a:rPr>
              <a:t> rotor </a:t>
            </a:r>
          </a:p>
        </p:txBody>
      </p:sp>
      <p:pic>
        <p:nvPicPr>
          <p:cNvPr id="203" name="Image 202">
            <a:extLst>
              <a:ext uri="{FF2B5EF4-FFF2-40B4-BE49-F238E27FC236}">
                <a16:creationId xmlns:a16="http://schemas.microsoft.com/office/drawing/2014/main" id="{DD03C4DA-5372-8F16-9738-715C07726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88" y="2663573"/>
            <a:ext cx="3384838" cy="3259441"/>
          </a:xfrm>
          <a:prstGeom prst="rect">
            <a:avLst/>
          </a:prstGeom>
        </p:spPr>
      </p:pic>
      <p:sp>
        <p:nvSpPr>
          <p:cNvPr id="204" name="Zone de texte 30">
            <a:extLst>
              <a:ext uri="{FF2B5EF4-FFF2-40B4-BE49-F238E27FC236}">
                <a16:creationId xmlns:a16="http://schemas.microsoft.com/office/drawing/2014/main" id="{359166DC-8774-C760-7980-B0CF099C0E4C}"/>
              </a:ext>
            </a:extLst>
          </p:cNvPr>
          <p:cNvSpPr txBox="1"/>
          <p:nvPr/>
        </p:nvSpPr>
        <p:spPr>
          <a:xfrm>
            <a:off x="2480833" y="5368344"/>
            <a:ext cx="900175" cy="65565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25000"/>
              </a:lnSpc>
              <a:buNone/>
            </a:pPr>
            <a:r>
              <a:rPr lang="fr-FR" sz="1000" dirty="0"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A+</a:t>
            </a:r>
            <a:endParaRPr lang="fr-FR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" name="Zone de texte 30">
            <a:extLst>
              <a:ext uri="{FF2B5EF4-FFF2-40B4-BE49-F238E27FC236}">
                <a16:creationId xmlns:a16="http://schemas.microsoft.com/office/drawing/2014/main" id="{BA5EE809-8B11-61DC-528D-1CF2BBCCE9A2}"/>
              </a:ext>
            </a:extLst>
          </p:cNvPr>
          <p:cNvSpPr txBox="1"/>
          <p:nvPr/>
        </p:nvSpPr>
        <p:spPr>
          <a:xfrm>
            <a:off x="1932219" y="5369240"/>
            <a:ext cx="900175" cy="654754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25000"/>
              </a:lnSpc>
              <a:buNone/>
            </a:pPr>
            <a:r>
              <a:rPr lang="fr-FR" sz="1000" dirty="0"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A-</a:t>
            </a:r>
            <a:endParaRPr lang="fr-FR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07" name="Image 206">
            <a:extLst>
              <a:ext uri="{FF2B5EF4-FFF2-40B4-BE49-F238E27FC236}">
                <a16:creationId xmlns:a16="http://schemas.microsoft.com/office/drawing/2014/main" id="{7BE5228D-E9E9-73E0-8461-82F19A42F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825" y="4231859"/>
            <a:ext cx="3555284" cy="1279144"/>
          </a:xfrm>
          <a:prstGeom prst="rect">
            <a:avLst/>
          </a:prstGeom>
        </p:spPr>
      </p:pic>
      <p:sp>
        <p:nvSpPr>
          <p:cNvPr id="208" name="Arc 207">
            <a:extLst>
              <a:ext uri="{FF2B5EF4-FFF2-40B4-BE49-F238E27FC236}">
                <a16:creationId xmlns:a16="http://schemas.microsoft.com/office/drawing/2014/main" id="{C2808692-BD57-3C49-1EC2-7C5E535FA9B1}"/>
              </a:ext>
            </a:extLst>
          </p:cNvPr>
          <p:cNvSpPr/>
          <p:nvPr/>
        </p:nvSpPr>
        <p:spPr>
          <a:xfrm rot="2047982">
            <a:off x="4020495" y="3670867"/>
            <a:ext cx="643083" cy="758643"/>
          </a:xfrm>
          <a:prstGeom prst="arc">
            <a:avLst>
              <a:gd name="adj1" fmla="val 16200000"/>
              <a:gd name="adj2" fmla="val 356459"/>
            </a:avLst>
          </a:prstGeom>
          <a:ln w="3175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209" name="Zone de texte 15">
            <a:extLst>
              <a:ext uri="{FF2B5EF4-FFF2-40B4-BE49-F238E27FC236}">
                <a16:creationId xmlns:a16="http://schemas.microsoft.com/office/drawing/2014/main" id="{B16A9D94-80BB-A331-BDF0-09067DEB4D33}"/>
              </a:ext>
            </a:extLst>
          </p:cNvPr>
          <p:cNvSpPr txBox="1"/>
          <p:nvPr/>
        </p:nvSpPr>
        <p:spPr>
          <a:xfrm>
            <a:off x="4621003" y="3687443"/>
            <a:ext cx="702905" cy="44229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25000"/>
              </a:lnSpc>
              <a:buNone/>
            </a:pPr>
            <a:r>
              <a:rPr lang="fr-FR" sz="1000"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θ</a:t>
            </a:r>
            <a:r>
              <a:rPr lang="fr-FR" sz="1000" baseline="-25000"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m</a:t>
            </a:r>
            <a:endParaRPr lang="fr-FR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10" name="Zone de texte 15">
            <a:extLst>
              <a:ext uri="{FF2B5EF4-FFF2-40B4-BE49-F238E27FC236}">
                <a16:creationId xmlns:a16="http://schemas.microsoft.com/office/drawing/2014/main" id="{A1360256-3DB6-8483-82D7-402922DC8531}"/>
              </a:ext>
            </a:extLst>
          </p:cNvPr>
          <p:cNvSpPr txBox="1"/>
          <p:nvPr/>
        </p:nvSpPr>
        <p:spPr>
          <a:xfrm rot="20790515">
            <a:off x="2154660" y="3862638"/>
            <a:ext cx="900127" cy="6563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25000"/>
              </a:lnSpc>
              <a:buNone/>
            </a:pPr>
            <a:r>
              <a:rPr lang="fr-FR" sz="800" b="1" dirty="0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rotor</a:t>
            </a:r>
            <a:endParaRPr lang="fr-FR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211" name="Connecteur droit 210">
            <a:extLst>
              <a:ext uri="{FF2B5EF4-FFF2-40B4-BE49-F238E27FC236}">
                <a16:creationId xmlns:a16="http://schemas.microsoft.com/office/drawing/2014/main" id="{2668744E-B6F3-C0B6-B42E-E10895B984A0}"/>
              </a:ext>
            </a:extLst>
          </p:cNvPr>
          <p:cNvCxnSpPr/>
          <p:nvPr/>
        </p:nvCxnSpPr>
        <p:spPr>
          <a:xfrm flipH="1" flipV="1">
            <a:off x="2379194" y="4276946"/>
            <a:ext cx="2241810" cy="0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eur droit 211">
            <a:extLst>
              <a:ext uri="{FF2B5EF4-FFF2-40B4-BE49-F238E27FC236}">
                <a16:creationId xmlns:a16="http://schemas.microsoft.com/office/drawing/2014/main" id="{C4951111-86D9-D28D-B8CB-02A8421EEC0A}"/>
              </a:ext>
            </a:extLst>
          </p:cNvPr>
          <p:cNvCxnSpPr/>
          <p:nvPr/>
        </p:nvCxnSpPr>
        <p:spPr>
          <a:xfrm flipH="1">
            <a:off x="2374827" y="3704073"/>
            <a:ext cx="2163815" cy="562046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Zone de texte 30">
            <a:extLst>
              <a:ext uri="{FF2B5EF4-FFF2-40B4-BE49-F238E27FC236}">
                <a16:creationId xmlns:a16="http://schemas.microsoft.com/office/drawing/2014/main" id="{CC2EB110-96BC-985A-B52A-94307013018A}"/>
              </a:ext>
            </a:extLst>
          </p:cNvPr>
          <p:cNvSpPr txBox="1"/>
          <p:nvPr/>
        </p:nvSpPr>
        <p:spPr>
          <a:xfrm>
            <a:off x="1914647" y="2868825"/>
            <a:ext cx="351732" cy="30330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25000"/>
              </a:lnSpc>
              <a:buNone/>
            </a:pPr>
            <a:r>
              <a:rPr lang="fr-FR" sz="1000" dirty="0"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A+</a:t>
            </a:r>
            <a:endParaRPr lang="fr-FR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214" name="Groupe 213">
            <a:extLst>
              <a:ext uri="{FF2B5EF4-FFF2-40B4-BE49-F238E27FC236}">
                <a16:creationId xmlns:a16="http://schemas.microsoft.com/office/drawing/2014/main" id="{5636C39B-048A-B534-F516-9164D5873A76}"/>
              </a:ext>
            </a:extLst>
          </p:cNvPr>
          <p:cNvGrpSpPr/>
          <p:nvPr/>
        </p:nvGrpSpPr>
        <p:grpSpPr>
          <a:xfrm>
            <a:off x="2679402" y="3072972"/>
            <a:ext cx="152331" cy="147818"/>
            <a:chOff x="1578517" y="471712"/>
            <a:chExt cx="108000" cy="104823"/>
          </a:xfrm>
        </p:grpSpPr>
        <p:sp>
          <p:nvSpPr>
            <p:cNvPr id="298" name="Oval 777">
              <a:extLst>
                <a:ext uri="{FF2B5EF4-FFF2-40B4-BE49-F238E27FC236}">
                  <a16:creationId xmlns:a16="http://schemas.microsoft.com/office/drawing/2014/main" id="{B2541DE2-0CB9-03C3-4CA3-592A01FB47A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1578517" y="471712"/>
              <a:ext cx="108000" cy="104823"/>
            </a:xfrm>
            <a:prstGeom prst="ellipse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cxnSp>
          <p:nvCxnSpPr>
            <p:cNvPr id="299" name="AutoShape 778">
              <a:extLst>
                <a:ext uri="{FF2B5EF4-FFF2-40B4-BE49-F238E27FC236}">
                  <a16:creationId xmlns:a16="http://schemas.microsoft.com/office/drawing/2014/main" id="{29C14B9F-3535-4905-E488-CB66C884832B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1594333" y="487057"/>
              <a:ext cx="76368" cy="74120"/>
            </a:xfrm>
            <a:prstGeom prst="straightConnector1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0" name="AutoShape 779">
              <a:extLst>
                <a:ext uri="{FF2B5EF4-FFF2-40B4-BE49-F238E27FC236}">
                  <a16:creationId xmlns:a16="http://schemas.microsoft.com/office/drawing/2014/main" id="{6D61D6A2-0954-3C89-0654-DD3E2AAE593D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V="1">
              <a:off x="1596950" y="487057"/>
              <a:ext cx="73751" cy="81276"/>
            </a:xfrm>
            <a:prstGeom prst="straightConnector1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5" name="Groupe 214">
            <a:extLst>
              <a:ext uri="{FF2B5EF4-FFF2-40B4-BE49-F238E27FC236}">
                <a16:creationId xmlns:a16="http://schemas.microsoft.com/office/drawing/2014/main" id="{5D03C100-E0F2-09D6-FB41-AEE8BD7199B9}"/>
              </a:ext>
            </a:extLst>
          </p:cNvPr>
          <p:cNvGrpSpPr/>
          <p:nvPr/>
        </p:nvGrpSpPr>
        <p:grpSpPr>
          <a:xfrm>
            <a:off x="1885940" y="3071765"/>
            <a:ext cx="156949" cy="152298"/>
            <a:chOff x="433609" y="290844"/>
            <a:chExt cx="111274" cy="108000"/>
          </a:xfrm>
        </p:grpSpPr>
        <p:sp>
          <p:nvSpPr>
            <p:cNvPr id="296" name="Oval 791">
              <a:extLst>
                <a:ext uri="{FF2B5EF4-FFF2-40B4-BE49-F238E27FC236}">
                  <a16:creationId xmlns:a16="http://schemas.microsoft.com/office/drawing/2014/main" id="{6F69CC1C-3EE1-1F21-3B9C-A5A7A4F0C7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433609" y="290844"/>
              <a:ext cx="111274" cy="108000"/>
            </a:xfrm>
            <a:prstGeom prst="ellipse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sp>
          <p:nvSpPr>
            <p:cNvPr id="297" name="Oval 792">
              <a:extLst>
                <a:ext uri="{FF2B5EF4-FFF2-40B4-BE49-F238E27FC236}">
                  <a16:creationId xmlns:a16="http://schemas.microsoft.com/office/drawing/2014/main" id="{AD4BA4B4-5B11-B608-8074-F0D1B6DE248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464725" y="321391"/>
              <a:ext cx="48990" cy="47784"/>
            </a:xfrm>
            <a:prstGeom prst="ellipse">
              <a:avLst/>
            </a:prstGeom>
            <a:solidFill>
              <a:schemeClr val="tx1">
                <a:lumMod val="100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chemeClr val="tx1">
                      <a:lumMod val="100000"/>
                      <a:lumOff val="0"/>
                    </a:schemeClr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</p:grpSp>
      <p:grpSp>
        <p:nvGrpSpPr>
          <p:cNvPr id="216" name="Groupe 215">
            <a:extLst>
              <a:ext uri="{FF2B5EF4-FFF2-40B4-BE49-F238E27FC236}">
                <a16:creationId xmlns:a16="http://schemas.microsoft.com/office/drawing/2014/main" id="{A7CE006F-BDFC-435E-78AE-7158508BCF6E}"/>
              </a:ext>
            </a:extLst>
          </p:cNvPr>
          <p:cNvGrpSpPr/>
          <p:nvPr/>
        </p:nvGrpSpPr>
        <p:grpSpPr>
          <a:xfrm>
            <a:off x="2664591" y="5314637"/>
            <a:ext cx="156739" cy="152228"/>
            <a:chOff x="0" y="0"/>
            <a:chExt cx="111274" cy="108000"/>
          </a:xfrm>
        </p:grpSpPr>
        <p:sp>
          <p:nvSpPr>
            <p:cNvPr id="294" name="Oval 791">
              <a:extLst>
                <a:ext uri="{FF2B5EF4-FFF2-40B4-BE49-F238E27FC236}">
                  <a16:creationId xmlns:a16="http://schemas.microsoft.com/office/drawing/2014/main" id="{4E4EBA4A-5AA4-19FC-D773-4734AF44C67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0" y="0"/>
              <a:ext cx="111274" cy="108000"/>
            </a:xfrm>
            <a:prstGeom prst="ellipse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sp>
          <p:nvSpPr>
            <p:cNvPr id="295" name="Oval 792">
              <a:extLst>
                <a:ext uri="{FF2B5EF4-FFF2-40B4-BE49-F238E27FC236}">
                  <a16:creationId xmlns:a16="http://schemas.microsoft.com/office/drawing/2014/main" id="{9733D907-CA53-ED3B-2092-0CE9BECDE41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31116" y="30547"/>
              <a:ext cx="48990" cy="47784"/>
            </a:xfrm>
            <a:prstGeom prst="ellipse">
              <a:avLst/>
            </a:prstGeom>
            <a:solidFill>
              <a:schemeClr val="tx1">
                <a:lumMod val="100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chemeClr val="tx1">
                      <a:lumMod val="100000"/>
                      <a:lumOff val="0"/>
                    </a:schemeClr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</p:grpSp>
      <p:grpSp>
        <p:nvGrpSpPr>
          <p:cNvPr id="217" name="Groupe 216">
            <a:extLst>
              <a:ext uri="{FF2B5EF4-FFF2-40B4-BE49-F238E27FC236}">
                <a16:creationId xmlns:a16="http://schemas.microsoft.com/office/drawing/2014/main" id="{5222A798-308B-C9D7-0DF6-F4B279C02C0A}"/>
              </a:ext>
            </a:extLst>
          </p:cNvPr>
          <p:cNvGrpSpPr/>
          <p:nvPr/>
        </p:nvGrpSpPr>
        <p:grpSpPr>
          <a:xfrm>
            <a:off x="1881757" y="5315619"/>
            <a:ext cx="152260" cy="147751"/>
            <a:chOff x="-91235" y="33679"/>
            <a:chExt cx="108000" cy="104823"/>
          </a:xfrm>
        </p:grpSpPr>
        <p:sp>
          <p:nvSpPr>
            <p:cNvPr id="291" name="Oval 777">
              <a:extLst>
                <a:ext uri="{FF2B5EF4-FFF2-40B4-BE49-F238E27FC236}">
                  <a16:creationId xmlns:a16="http://schemas.microsoft.com/office/drawing/2014/main" id="{5404802C-8AC9-51FB-B923-B5AC7B75323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-91235" y="33679"/>
              <a:ext cx="108000" cy="104823"/>
            </a:xfrm>
            <a:prstGeom prst="ellipse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cxnSp>
          <p:nvCxnSpPr>
            <p:cNvPr id="292" name="AutoShape 778">
              <a:extLst>
                <a:ext uri="{FF2B5EF4-FFF2-40B4-BE49-F238E27FC236}">
                  <a16:creationId xmlns:a16="http://schemas.microsoft.com/office/drawing/2014/main" id="{B119D16E-1503-DF51-CC9F-0B5313ABA8B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-75419" y="49024"/>
              <a:ext cx="76368" cy="74120"/>
            </a:xfrm>
            <a:prstGeom prst="straightConnector1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3" name="AutoShape 779">
              <a:extLst>
                <a:ext uri="{FF2B5EF4-FFF2-40B4-BE49-F238E27FC236}">
                  <a16:creationId xmlns:a16="http://schemas.microsoft.com/office/drawing/2014/main" id="{D5D0C0A8-A66F-4CDB-CDDF-EA83839A890E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V="1">
              <a:off x="-72802" y="49024"/>
              <a:ext cx="73751" cy="81276"/>
            </a:xfrm>
            <a:prstGeom prst="straightConnector1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8" name="Groupe 217">
            <a:extLst>
              <a:ext uri="{FF2B5EF4-FFF2-40B4-BE49-F238E27FC236}">
                <a16:creationId xmlns:a16="http://schemas.microsoft.com/office/drawing/2014/main" id="{A00BA39E-3370-9FCA-B773-E7C6FA6EADE3}"/>
              </a:ext>
            </a:extLst>
          </p:cNvPr>
          <p:cNvGrpSpPr/>
          <p:nvPr/>
        </p:nvGrpSpPr>
        <p:grpSpPr>
          <a:xfrm rot="18053260">
            <a:off x="1509802" y="3292385"/>
            <a:ext cx="152152" cy="147823"/>
            <a:chOff x="422233" y="0"/>
            <a:chExt cx="108000" cy="104823"/>
          </a:xfrm>
        </p:grpSpPr>
        <p:sp>
          <p:nvSpPr>
            <p:cNvPr id="288" name="Oval 777">
              <a:extLst>
                <a:ext uri="{FF2B5EF4-FFF2-40B4-BE49-F238E27FC236}">
                  <a16:creationId xmlns:a16="http://schemas.microsoft.com/office/drawing/2014/main" id="{93C48446-488F-B476-01D6-84A6F3BE1A4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422233" y="0"/>
              <a:ext cx="108000" cy="104823"/>
            </a:xfrm>
            <a:prstGeom prst="ellipse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cxnSp>
          <p:nvCxnSpPr>
            <p:cNvPr id="289" name="AutoShape 778">
              <a:extLst>
                <a:ext uri="{FF2B5EF4-FFF2-40B4-BE49-F238E27FC236}">
                  <a16:creationId xmlns:a16="http://schemas.microsoft.com/office/drawing/2014/main" id="{4C4F76DD-A128-F583-D7FB-0B8A1ABD8315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438049" y="15345"/>
              <a:ext cx="76368" cy="74120"/>
            </a:xfrm>
            <a:prstGeom prst="straightConnector1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0" name="AutoShape 779">
              <a:extLst>
                <a:ext uri="{FF2B5EF4-FFF2-40B4-BE49-F238E27FC236}">
                  <a16:creationId xmlns:a16="http://schemas.microsoft.com/office/drawing/2014/main" id="{3CBBD860-932D-9FE7-5DFE-53E15A5BE21F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V="1">
              <a:off x="440666" y="15345"/>
              <a:ext cx="73751" cy="81276"/>
            </a:xfrm>
            <a:prstGeom prst="straightConnector1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9" name="Groupe 218">
            <a:extLst>
              <a:ext uri="{FF2B5EF4-FFF2-40B4-BE49-F238E27FC236}">
                <a16:creationId xmlns:a16="http://schemas.microsoft.com/office/drawing/2014/main" id="{98FAF5AD-DB20-E420-AD4A-4EE901B5B906}"/>
              </a:ext>
            </a:extLst>
          </p:cNvPr>
          <p:cNvGrpSpPr/>
          <p:nvPr/>
        </p:nvGrpSpPr>
        <p:grpSpPr>
          <a:xfrm rot="18053260">
            <a:off x="1101215" y="3955366"/>
            <a:ext cx="156764" cy="152304"/>
            <a:chOff x="0" y="5010"/>
            <a:chExt cx="111274" cy="108000"/>
          </a:xfrm>
        </p:grpSpPr>
        <p:sp>
          <p:nvSpPr>
            <p:cNvPr id="286" name="Oval 791">
              <a:extLst>
                <a:ext uri="{FF2B5EF4-FFF2-40B4-BE49-F238E27FC236}">
                  <a16:creationId xmlns:a16="http://schemas.microsoft.com/office/drawing/2014/main" id="{A77D74D9-9143-50CB-FE26-003F849FEAA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0" y="5010"/>
              <a:ext cx="111274" cy="108000"/>
            </a:xfrm>
            <a:prstGeom prst="ellipse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sp>
          <p:nvSpPr>
            <p:cNvPr id="287" name="Oval 792">
              <a:extLst>
                <a:ext uri="{FF2B5EF4-FFF2-40B4-BE49-F238E27FC236}">
                  <a16:creationId xmlns:a16="http://schemas.microsoft.com/office/drawing/2014/main" id="{0232C5E1-E5ED-4436-F792-10B2258098F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31116" y="35557"/>
              <a:ext cx="48990" cy="47784"/>
            </a:xfrm>
            <a:prstGeom prst="ellipse">
              <a:avLst/>
            </a:prstGeom>
            <a:solidFill>
              <a:schemeClr val="tx1">
                <a:lumMod val="100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chemeClr val="tx1">
                      <a:lumMod val="100000"/>
                      <a:lumOff val="0"/>
                    </a:schemeClr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</p:grpSp>
      <p:grpSp>
        <p:nvGrpSpPr>
          <p:cNvPr id="220" name="Groupe 219">
            <a:extLst>
              <a:ext uri="{FF2B5EF4-FFF2-40B4-BE49-F238E27FC236}">
                <a16:creationId xmlns:a16="http://schemas.microsoft.com/office/drawing/2014/main" id="{280ECD79-CE9C-BF76-7BD8-A72BD65E71AC}"/>
              </a:ext>
            </a:extLst>
          </p:cNvPr>
          <p:cNvGrpSpPr/>
          <p:nvPr/>
        </p:nvGrpSpPr>
        <p:grpSpPr>
          <a:xfrm rot="18053260">
            <a:off x="3448958" y="4427641"/>
            <a:ext cx="156554" cy="152234"/>
            <a:chOff x="430414" y="1529640"/>
            <a:chExt cx="111274" cy="108000"/>
          </a:xfrm>
        </p:grpSpPr>
        <p:sp>
          <p:nvSpPr>
            <p:cNvPr id="284" name="Oval 791">
              <a:extLst>
                <a:ext uri="{FF2B5EF4-FFF2-40B4-BE49-F238E27FC236}">
                  <a16:creationId xmlns:a16="http://schemas.microsoft.com/office/drawing/2014/main" id="{C6930E87-6D46-C030-7D2F-8FC7231F034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430414" y="1529640"/>
              <a:ext cx="111274" cy="108000"/>
            </a:xfrm>
            <a:prstGeom prst="ellipse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sp>
          <p:nvSpPr>
            <p:cNvPr id="285" name="Oval 792">
              <a:extLst>
                <a:ext uri="{FF2B5EF4-FFF2-40B4-BE49-F238E27FC236}">
                  <a16:creationId xmlns:a16="http://schemas.microsoft.com/office/drawing/2014/main" id="{836A3A20-92A7-4324-D307-95F9BB9FB2E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461530" y="1560187"/>
              <a:ext cx="48990" cy="47784"/>
            </a:xfrm>
            <a:prstGeom prst="ellipse">
              <a:avLst/>
            </a:prstGeom>
            <a:solidFill>
              <a:schemeClr val="tx1">
                <a:lumMod val="100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chemeClr val="tx1">
                      <a:lumMod val="100000"/>
                      <a:lumOff val="0"/>
                    </a:schemeClr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</p:grpSp>
      <p:grpSp>
        <p:nvGrpSpPr>
          <p:cNvPr id="221" name="Groupe 220">
            <a:extLst>
              <a:ext uri="{FF2B5EF4-FFF2-40B4-BE49-F238E27FC236}">
                <a16:creationId xmlns:a16="http://schemas.microsoft.com/office/drawing/2014/main" id="{89342BBD-0FF0-2875-C32D-21871B630648}"/>
              </a:ext>
            </a:extLst>
          </p:cNvPr>
          <p:cNvGrpSpPr/>
          <p:nvPr/>
        </p:nvGrpSpPr>
        <p:grpSpPr>
          <a:xfrm rot="18053260">
            <a:off x="3082806" y="5073667"/>
            <a:ext cx="152081" cy="147755"/>
            <a:chOff x="5127" y="1545893"/>
            <a:chExt cx="108000" cy="104823"/>
          </a:xfrm>
        </p:grpSpPr>
        <p:sp>
          <p:nvSpPr>
            <p:cNvPr id="281" name="Oval 777">
              <a:extLst>
                <a:ext uri="{FF2B5EF4-FFF2-40B4-BE49-F238E27FC236}">
                  <a16:creationId xmlns:a16="http://schemas.microsoft.com/office/drawing/2014/main" id="{4DBEBA65-F0D9-D6EC-A9A6-2CC96F69CC3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5127" y="1545893"/>
              <a:ext cx="108000" cy="104823"/>
            </a:xfrm>
            <a:prstGeom prst="ellipse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cxnSp>
          <p:nvCxnSpPr>
            <p:cNvPr id="282" name="AutoShape 778">
              <a:extLst>
                <a:ext uri="{FF2B5EF4-FFF2-40B4-BE49-F238E27FC236}">
                  <a16:creationId xmlns:a16="http://schemas.microsoft.com/office/drawing/2014/main" id="{ED8942E4-A784-8D5E-A865-E8ACD5D6EC7B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20943" y="1561238"/>
              <a:ext cx="76368" cy="74120"/>
            </a:xfrm>
            <a:prstGeom prst="straightConnector1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3" name="AutoShape 779">
              <a:extLst>
                <a:ext uri="{FF2B5EF4-FFF2-40B4-BE49-F238E27FC236}">
                  <a16:creationId xmlns:a16="http://schemas.microsoft.com/office/drawing/2014/main" id="{4EF2FB4C-FA2A-73A3-06B7-BAE29A8A3F2C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V="1">
              <a:off x="23560" y="1561238"/>
              <a:ext cx="73751" cy="81276"/>
            </a:xfrm>
            <a:prstGeom prst="straightConnector1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22" name="Groupe 221">
            <a:extLst>
              <a:ext uri="{FF2B5EF4-FFF2-40B4-BE49-F238E27FC236}">
                <a16:creationId xmlns:a16="http://schemas.microsoft.com/office/drawing/2014/main" id="{4A58F365-AA36-158A-70F6-C31816BC46DA}"/>
              </a:ext>
            </a:extLst>
          </p:cNvPr>
          <p:cNvGrpSpPr/>
          <p:nvPr/>
        </p:nvGrpSpPr>
        <p:grpSpPr>
          <a:xfrm rot="14430079">
            <a:off x="1114222" y="4419223"/>
            <a:ext cx="151974" cy="147765"/>
            <a:chOff x="976905" y="-554672"/>
            <a:chExt cx="108000" cy="104823"/>
          </a:xfrm>
        </p:grpSpPr>
        <p:sp>
          <p:nvSpPr>
            <p:cNvPr id="278" name="Oval 777">
              <a:extLst>
                <a:ext uri="{FF2B5EF4-FFF2-40B4-BE49-F238E27FC236}">
                  <a16:creationId xmlns:a16="http://schemas.microsoft.com/office/drawing/2014/main" id="{9A387979-146C-9EB9-D5D9-F636CBFBC57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976905" y="-554672"/>
              <a:ext cx="108000" cy="104823"/>
            </a:xfrm>
            <a:prstGeom prst="ellipse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cxnSp>
          <p:nvCxnSpPr>
            <p:cNvPr id="279" name="AutoShape 778">
              <a:extLst>
                <a:ext uri="{FF2B5EF4-FFF2-40B4-BE49-F238E27FC236}">
                  <a16:creationId xmlns:a16="http://schemas.microsoft.com/office/drawing/2014/main" id="{B12B66B6-9C84-1EDC-8F5F-EF6611239DA1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992721" y="-539327"/>
              <a:ext cx="76368" cy="74120"/>
            </a:xfrm>
            <a:prstGeom prst="straightConnector1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0" name="AutoShape 779">
              <a:extLst>
                <a:ext uri="{FF2B5EF4-FFF2-40B4-BE49-F238E27FC236}">
                  <a16:creationId xmlns:a16="http://schemas.microsoft.com/office/drawing/2014/main" id="{BB546CC6-4D15-6406-397D-07BC3DBC791B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V="1">
              <a:off x="995338" y="-539326"/>
              <a:ext cx="73751" cy="81276"/>
            </a:xfrm>
            <a:prstGeom prst="straightConnector1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23" name="Groupe 222">
            <a:extLst>
              <a:ext uri="{FF2B5EF4-FFF2-40B4-BE49-F238E27FC236}">
                <a16:creationId xmlns:a16="http://schemas.microsoft.com/office/drawing/2014/main" id="{D7F1DEA2-BD22-E431-439A-038D5B7F6229}"/>
              </a:ext>
            </a:extLst>
          </p:cNvPr>
          <p:cNvGrpSpPr/>
          <p:nvPr/>
        </p:nvGrpSpPr>
        <p:grpSpPr>
          <a:xfrm rot="14430079">
            <a:off x="1509908" y="5084896"/>
            <a:ext cx="156581" cy="152243"/>
            <a:chOff x="554672" y="-549662"/>
            <a:chExt cx="111274" cy="108000"/>
          </a:xfrm>
        </p:grpSpPr>
        <p:sp>
          <p:nvSpPr>
            <p:cNvPr id="276" name="Oval 791">
              <a:extLst>
                <a:ext uri="{FF2B5EF4-FFF2-40B4-BE49-F238E27FC236}">
                  <a16:creationId xmlns:a16="http://schemas.microsoft.com/office/drawing/2014/main" id="{14299C37-D56B-D863-5AC0-25C22B50553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554672" y="-549662"/>
              <a:ext cx="111274" cy="108000"/>
            </a:xfrm>
            <a:prstGeom prst="ellipse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sp>
          <p:nvSpPr>
            <p:cNvPr id="277" name="Oval 792">
              <a:extLst>
                <a:ext uri="{FF2B5EF4-FFF2-40B4-BE49-F238E27FC236}">
                  <a16:creationId xmlns:a16="http://schemas.microsoft.com/office/drawing/2014/main" id="{97779ACF-E983-C8DC-E3CF-64B3CCADEC2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585788" y="-519115"/>
              <a:ext cx="48990" cy="47784"/>
            </a:xfrm>
            <a:prstGeom prst="ellipse">
              <a:avLst/>
            </a:prstGeom>
            <a:solidFill>
              <a:schemeClr val="tx1">
                <a:lumMod val="100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chemeClr val="tx1">
                      <a:lumMod val="100000"/>
                      <a:lumOff val="0"/>
                    </a:schemeClr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</p:grpSp>
      <p:grpSp>
        <p:nvGrpSpPr>
          <p:cNvPr id="224" name="Groupe 223">
            <a:extLst>
              <a:ext uri="{FF2B5EF4-FFF2-40B4-BE49-F238E27FC236}">
                <a16:creationId xmlns:a16="http://schemas.microsoft.com/office/drawing/2014/main" id="{6C755156-9565-2310-9969-9C6CC6BD8649}"/>
              </a:ext>
            </a:extLst>
          </p:cNvPr>
          <p:cNvGrpSpPr/>
          <p:nvPr/>
        </p:nvGrpSpPr>
        <p:grpSpPr>
          <a:xfrm rot="14430079">
            <a:off x="3069920" y="3303476"/>
            <a:ext cx="156371" cy="152173"/>
            <a:chOff x="985085" y="974968"/>
            <a:chExt cx="111274" cy="108000"/>
          </a:xfrm>
        </p:grpSpPr>
        <p:sp>
          <p:nvSpPr>
            <p:cNvPr id="274" name="Oval 791">
              <a:extLst>
                <a:ext uri="{FF2B5EF4-FFF2-40B4-BE49-F238E27FC236}">
                  <a16:creationId xmlns:a16="http://schemas.microsoft.com/office/drawing/2014/main" id="{08D267A4-D524-1B0D-5EE3-58A679D8E5E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985085" y="974968"/>
              <a:ext cx="111274" cy="108000"/>
            </a:xfrm>
            <a:prstGeom prst="ellipse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sp>
          <p:nvSpPr>
            <p:cNvPr id="275" name="Oval 792">
              <a:extLst>
                <a:ext uri="{FF2B5EF4-FFF2-40B4-BE49-F238E27FC236}">
                  <a16:creationId xmlns:a16="http://schemas.microsoft.com/office/drawing/2014/main" id="{44F66A93-8D22-0469-B951-5D5E893F3AD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1016202" y="1005515"/>
              <a:ext cx="48990" cy="47784"/>
            </a:xfrm>
            <a:prstGeom prst="ellipse">
              <a:avLst/>
            </a:prstGeom>
            <a:solidFill>
              <a:schemeClr val="tx1">
                <a:lumMod val="100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chemeClr val="tx1">
                      <a:lumMod val="100000"/>
                      <a:lumOff val="0"/>
                    </a:schemeClr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</p:grpSp>
      <p:grpSp>
        <p:nvGrpSpPr>
          <p:cNvPr id="225" name="Groupe 224">
            <a:extLst>
              <a:ext uri="{FF2B5EF4-FFF2-40B4-BE49-F238E27FC236}">
                <a16:creationId xmlns:a16="http://schemas.microsoft.com/office/drawing/2014/main" id="{F2A8D2B5-CE53-7E40-A2FB-64F47DA42689}"/>
              </a:ext>
            </a:extLst>
          </p:cNvPr>
          <p:cNvGrpSpPr/>
          <p:nvPr/>
        </p:nvGrpSpPr>
        <p:grpSpPr>
          <a:xfrm rot="14430079">
            <a:off x="3455116" y="3962928"/>
            <a:ext cx="151903" cy="147697"/>
            <a:chOff x="559799" y="991221"/>
            <a:chExt cx="108000" cy="104823"/>
          </a:xfrm>
        </p:grpSpPr>
        <p:sp>
          <p:nvSpPr>
            <p:cNvPr id="271" name="Oval 777">
              <a:extLst>
                <a:ext uri="{FF2B5EF4-FFF2-40B4-BE49-F238E27FC236}">
                  <a16:creationId xmlns:a16="http://schemas.microsoft.com/office/drawing/2014/main" id="{C4AC1C97-9709-3555-4CA6-6DF2C9643AE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559799" y="991221"/>
              <a:ext cx="108000" cy="104823"/>
            </a:xfrm>
            <a:prstGeom prst="ellipse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cxnSp>
          <p:nvCxnSpPr>
            <p:cNvPr id="272" name="AutoShape 778">
              <a:extLst>
                <a:ext uri="{FF2B5EF4-FFF2-40B4-BE49-F238E27FC236}">
                  <a16:creationId xmlns:a16="http://schemas.microsoft.com/office/drawing/2014/main" id="{B6553B91-5D34-875B-8ECC-164BFAC34847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575615" y="1006565"/>
              <a:ext cx="76368" cy="74120"/>
            </a:xfrm>
            <a:prstGeom prst="straightConnector1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3" name="AutoShape 779">
              <a:extLst>
                <a:ext uri="{FF2B5EF4-FFF2-40B4-BE49-F238E27FC236}">
                  <a16:creationId xmlns:a16="http://schemas.microsoft.com/office/drawing/2014/main" id="{D317105B-3706-173C-9DE6-E9DBDDD5780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V="1">
              <a:off x="578232" y="1006566"/>
              <a:ext cx="73751" cy="81276"/>
            </a:xfrm>
            <a:prstGeom prst="straightConnector1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26" name="Zone de texte 30">
            <a:extLst>
              <a:ext uri="{FF2B5EF4-FFF2-40B4-BE49-F238E27FC236}">
                <a16:creationId xmlns:a16="http://schemas.microsoft.com/office/drawing/2014/main" id="{3CB78C56-203C-6712-29D8-81E3903B2BEA}"/>
              </a:ext>
            </a:extLst>
          </p:cNvPr>
          <p:cNvSpPr txBox="1"/>
          <p:nvPr/>
        </p:nvSpPr>
        <p:spPr>
          <a:xfrm>
            <a:off x="2499497" y="2856533"/>
            <a:ext cx="472360" cy="315593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25000"/>
              </a:lnSpc>
              <a:buNone/>
            </a:pPr>
            <a:r>
              <a:rPr lang="fr-FR" sz="1000" dirty="0"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A-</a:t>
            </a:r>
            <a:endParaRPr lang="fr-FR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7" name="Zone de texte 30">
            <a:extLst>
              <a:ext uri="{FF2B5EF4-FFF2-40B4-BE49-F238E27FC236}">
                <a16:creationId xmlns:a16="http://schemas.microsoft.com/office/drawing/2014/main" id="{13EE863B-3B3D-9A10-B7F0-29B982368611}"/>
              </a:ext>
            </a:extLst>
          </p:cNvPr>
          <p:cNvSpPr txBox="1"/>
          <p:nvPr/>
        </p:nvSpPr>
        <p:spPr>
          <a:xfrm>
            <a:off x="1213077" y="4996530"/>
            <a:ext cx="900127" cy="6563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25000"/>
              </a:lnSpc>
              <a:buNone/>
            </a:pPr>
            <a:r>
              <a:rPr lang="fr-FR" sz="1000" dirty="0"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B+</a:t>
            </a:r>
            <a:endParaRPr lang="fr-FR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8" name="Zone de texte 30">
            <a:extLst>
              <a:ext uri="{FF2B5EF4-FFF2-40B4-BE49-F238E27FC236}">
                <a16:creationId xmlns:a16="http://schemas.microsoft.com/office/drawing/2014/main" id="{F41D1ADF-A732-4E31-8846-8734DCF2CA63}"/>
              </a:ext>
            </a:extLst>
          </p:cNvPr>
          <p:cNvSpPr txBox="1"/>
          <p:nvPr/>
        </p:nvSpPr>
        <p:spPr>
          <a:xfrm>
            <a:off x="964683" y="4520838"/>
            <a:ext cx="900127" cy="653684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25000"/>
              </a:lnSpc>
              <a:buNone/>
            </a:pPr>
            <a:r>
              <a:rPr lang="fr-FR" sz="1000" dirty="0"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B-</a:t>
            </a:r>
            <a:endParaRPr lang="fr-FR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9" name="Zone de texte 30">
            <a:extLst>
              <a:ext uri="{FF2B5EF4-FFF2-40B4-BE49-F238E27FC236}">
                <a16:creationId xmlns:a16="http://schemas.microsoft.com/office/drawing/2014/main" id="{7C6E2390-4985-6E6F-056B-A994CCEFFDE1}"/>
              </a:ext>
            </a:extLst>
          </p:cNvPr>
          <p:cNvSpPr txBox="1"/>
          <p:nvPr/>
        </p:nvSpPr>
        <p:spPr>
          <a:xfrm>
            <a:off x="3167996" y="3255441"/>
            <a:ext cx="900127" cy="655475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25000"/>
              </a:lnSpc>
              <a:buNone/>
            </a:pPr>
            <a:r>
              <a:rPr lang="fr-FR" sz="1000" dirty="0"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B+</a:t>
            </a:r>
            <a:endParaRPr lang="fr-FR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30" name="Zone de texte 30">
            <a:extLst>
              <a:ext uri="{FF2B5EF4-FFF2-40B4-BE49-F238E27FC236}">
                <a16:creationId xmlns:a16="http://schemas.microsoft.com/office/drawing/2014/main" id="{DF64D8CF-01E2-84A1-30CC-B03CF33B3921}"/>
              </a:ext>
            </a:extLst>
          </p:cNvPr>
          <p:cNvSpPr txBox="1"/>
          <p:nvPr/>
        </p:nvSpPr>
        <p:spPr>
          <a:xfrm>
            <a:off x="3447737" y="3719675"/>
            <a:ext cx="900127" cy="652789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25000"/>
              </a:lnSpc>
              <a:buNone/>
            </a:pPr>
            <a:r>
              <a:rPr lang="fr-FR" sz="1000" dirty="0"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B-</a:t>
            </a:r>
            <a:endParaRPr lang="fr-FR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31" name="Zone de texte 30">
            <a:extLst>
              <a:ext uri="{FF2B5EF4-FFF2-40B4-BE49-F238E27FC236}">
                <a16:creationId xmlns:a16="http://schemas.microsoft.com/office/drawing/2014/main" id="{A0CBB6A9-F7F4-4F2D-3C01-4B807C5B75F6}"/>
              </a:ext>
            </a:extLst>
          </p:cNvPr>
          <p:cNvSpPr txBox="1"/>
          <p:nvPr/>
        </p:nvSpPr>
        <p:spPr>
          <a:xfrm>
            <a:off x="3425723" y="4512049"/>
            <a:ext cx="900127" cy="655475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25000"/>
              </a:lnSpc>
              <a:buNone/>
            </a:pPr>
            <a:r>
              <a:rPr lang="fr-FR" sz="1000" dirty="0"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C+</a:t>
            </a:r>
            <a:endParaRPr lang="fr-FR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32" name="Zone de texte 30">
            <a:extLst>
              <a:ext uri="{FF2B5EF4-FFF2-40B4-BE49-F238E27FC236}">
                <a16:creationId xmlns:a16="http://schemas.microsoft.com/office/drawing/2014/main" id="{325EB3DD-4FDC-4504-A216-9D49E33ABCEE}"/>
              </a:ext>
            </a:extLst>
          </p:cNvPr>
          <p:cNvSpPr txBox="1"/>
          <p:nvPr/>
        </p:nvSpPr>
        <p:spPr>
          <a:xfrm>
            <a:off x="982301" y="3704073"/>
            <a:ext cx="900127" cy="65458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25000"/>
              </a:lnSpc>
              <a:buNone/>
            </a:pPr>
            <a:r>
              <a:rPr lang="fr-FR" sz="1000" dirty="0"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C+</a:t>
            </a:r>
            <a:endParaRPr lang="fr-FR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33" name="Zone de texte 30">
            <a:extLst>
              <a:ext uri="{FF2B5EF4-FFF2-40B4-BE49-F238E27FC236}">
                <a16:creationId xmlns:a16="http://schemas.microsoft.com/office/drawing/2014/main" id="{A2C958FC-8F9D-C442-412D-0C9678BE69B4}"/>
              </a:ext>
            </a:extLst>
          </p:cNvPr>
          <p:cNvSpPr txBox="1"/>
          <p:nvPr/>
        </p:nvSpPr>
        <p:spPr>
          <a:xfrm>
            <a:off x="1241583" y="3272585"/>
            <a:ext cx="900127" cy="653684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25000"/>
              </a:lnSpc>
              <a:buNone/>
            </a:pPr>
            <a:r>
              <a:rPr lang="fr-FR" sz="1000"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C-</a:t>
            </a:r>
            <a:endParaRPr lang="fr-FR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34" name="Zone de texte 30">
            <a:extLst>
              <a:ext uri="{FF2B5EF4-FFF2-40B4-BE49-F238E27FC236}">
                <a16:creationId xmlns:a16="http://schemas.microsoft.com/office/drawing/2014/main" id="{2CE4C229-5954-9F44-6A90-36A8FEEB077A}"/>
              </a:ext>
            </a:extLst>
          </p:cNvPr>
          <p:cNvSpPr txBox="1"/>
          <p:nvPr/>
        </p:nvSpPr>
        <p:spPr>
          <a:xfrm>
            <a:off x="3174740" y="4980714"/>
            <a:ext cx="900127" cy="652789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25000"/>
              </a:lnSpc>
              <a:buNone/>
            </a:pPr>
            <a:r>
              <a:rPr lang="fr-FR" sz="1000" dirty="0"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C-</a:t>
            </a:r>
            <a:endParaRPr lang="fr-FR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235" name="Groupe 234">
            <a:extLst>
              <a:ext uri="{FF2B5EF4-FFF2-40B4-BE49-F238E27FC236}">
                <a16:creationId xmlns:a16="http://schemas.microsoft.com/office/drawing/2014/main" id="{A55DABF9-1009-F68A-08CF-BBD671561B64}"/>
              </a:ext>
            </a:extLst>
          </p:cNvPr>
          <p:cNvGrpSpPr/>
          <p:nvPr/>
        </p:nvGrpSpPr>
        <p:grpSpPr>
          <a:xfrm>
            <a:off x="1915902" y="3703925"/>
            <a:ext cx="156739" cy="152228"/>
            <a:chOff x="0" y="0"/>
            <a:chExt cx="111274" cy="108000"/>
          </a:xfrm>
        </p:grpSpPr>
        <p:sp>
          <p:nvSpPr>
            <p:cNvPr id="269" name="Oval 791">
              <a:extLst>
                <a:ext uri="{FF2B5EF4-FFF2-40B4-BE49-F238E27FC236}">
                  <a16:creationId xmlns:a16="http://schemas.microsoft.com/office/drawing/2014/main" id="{806010F0-174E-D1BA-5EE5-5F2F3CAE16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0" y="0"/>
              <a:ext cx="111274" cy="108000"/>
            </a:xfrm>
            <a:prstGeom prst="ellipse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sp>
          <p:nvSpPr>
            <p:cNvPr id="270" name="Oval 792">
              <a:extLst>
                <a:ext uri="{FF2B5EF4-FFF2-40B4-BE49-F238E27FC236}">
                  <a16:creationId xmlns:a16="http://schemas.microsoft.com/office/drawing/2014/main" id="{19B5F0A5-329E-87B0-AA69-BE4820E505D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31116" y="30547"/>
              <a:ext cx="48990" cy="47784"/>
            </a:xfrm>
            <a:prstGeom prst="ellipse">
              <a:avLst/>
            </a:prstGeom>
            <a:solidFill>
              <a:schemeClr val="tx1">
                <a:lumMod val="100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chemeClr val="tx1">
                      <a:lumMod val="100000"/>
                      <a:lumOff val="0"/>
                    </a:schemeClr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</p:grpSp>
      <p:grpSp>
        <p:nvGrpSpPr>
          <p:cNvPr id="236" name="Groupe 235">
            <a:extLst>
              <a:ext uri="{FF2B5EF4-FFF2-40B4-BE49-F238E27FC236}">
                <a16:creationId xmlns:a16="http://schemas.microsoft.com/office/drawing/2014/main" id="{D312065F-BC0C-ECF8-EFC9-7DB8BD672EBF}"/>
              </a:ext>
            </a:extLst>
          </p:cNvPr>
          <p:cNvGrpSpPr/>
          <p:nvPr/>
        </p:nvGrpSpPr>
        <p:grpSpPr>
          <a:xfrm>
            <a:off x="1691782" y="4129544"/>
            <a:ext cx="156739" cy="151332"/>
            <a:chOff x="0" y="0"/>
            <a:chExt cx="111274" cy="108000"/>
          </a:xfrm>
        </p:grpSpPr>
        <p:sp>
          <p:nvSpPr>
            <p:cNvPr id="267" name="Oval 791">
              <a:extLst>
                <a:ext uri="{FF2B5EF4-FFF2-40B4-BE49-F238E27FC236}">
                  <a16:creationId xmlns:a16="http://schemas.microsoft.com/office/drawing/2014/main" id="{474824D5-682A-320A-700E-71B1BA54845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0" y="0"/>
              <a:ext cx="111274" cy="108000"/>
            </a:xfrm>
            <a:prstGeom prst="ellipse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sp>
          <p:nvSpPr>
            <p:cNvPr id="268" name="Oval 792">
              <a:extLst>
                <a:ext uri="{FF2B5EF4-FFF2-40B4-BE49-F238E27FC236}">
                  <a16:creationId xmlns:a16="http://schemas.microsoft.com/office/drawing/2014/main" id="{D7D194CB-6781-9EE5-64D7-239F7D0D83A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31116" y="30547"/>
              <a:ext cx="48990" cy="47784"/>
            </a:xfrm>
            <a:prstGeom prst="ellipse">
              <a:avLst/>
            </a:prstGeom>
            <a:solidFill>
              <a:schemeClr val="tx1">
                <a:lumMod val="100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chemeClr val="tx1">
                      <a:lumMod val="100000"/>
                      <a:lumOff val="0"/>
                    </a:schemeClr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</p:grpSp>
      <p:grpSp>
        <p:nvGrpSpPr>
          <p:cNvPr id="237" name="Groupe 236">
            <a:extLst>
              <a:ext uri="{FF2B5EF4-FFF2-40B4-BE49-F238E27FC236}">
                <a16:creationId xmlns:a16="http://schemas.microsoft.com/office/drawing/2014/main" id="{C025BB0E-C418-C2F9-512A-1BE22E8F0BDE}"/>
              </a:ext>
            </a:extLst>
          </p:cNvPr>
          <p:cNvGrpSpPr/>
          <p:nvPr/>
        </p:nvGrpSpPr>
        <p:grpSpPr>
          <a:xfrm>
            <a:off x="1812146" y="4551814"/>
            <a:ext cx="152260" cy="147751"/>
            <a:chOff x="0" y="0"/>
            <a:chExt cx="108000" cy="104823"/>
          </a:xfrm>
        </p:grpSpPr>
        <p:sp>
          <p:nvSpPr>
            <p:cNvPr id="264" name="Oval 777">
              <a:extLst>
                <a:ext uri="{FF2B5EF4-FFF2-40B4-BE49-F238E27FC236}">
                  <a16:creationId xmlns:a16="http://schemas.microsoft.com/office/drawing/2014/main" id="{CCB426D9-4ADE-0E9D-290D-4786073F789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0" y="0"/>
              <a:ext cx="108000" cy="104823"/>
            </a:xfrm>
            <a:prstGeom prst="ellipse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cxnSp>
          <p:nvCxnSpPr>
            <p:cNvPr id="265" name="AutoShape 778">
              <a:extLst>
                <a:ext uri="{FF2B5EF4-FFF2-40B4-BE49-F238E27FC236}">
                  <a16:creationId xmlns:a16="http://schemas.microsoft.com/office/drawing/2014/main" id="{D4AB30E4-C30B-3797-B576-84A0DA2213F3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15816" y="15345"/>
              <a:ext cx="76368" cy="74120"/>
            </a:xfrm>
            <a:prstGeom prst="straightConnector1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" name="AutoShape 779">
              <a:extLst>
                <a:ext uri="{FF2B5EF4-FFF2-40B4-BE49-F238E27FC236}">
                  <a16:creationId xmlns:a16="http://schemas.microsoft.com/office/drawing/2014/main" id="{B723D11E-D39C-031A-A05F-1D2FAC9A652E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V="1">
              <a:off x="18433" y="15345"/>
              <a:ext cx="73751" cy="81276"/>
            </a:xfrm>
            <a:prstGeom prst="straightConnector1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38" name="Groupe 237">
            <a:extLst>
              <a:ext uri="{FF2B5EF4-FFF2-40B4-BE49-F238E27FC236}">
                <a16:creationId xmlns:a16="http://schemas.microsoft.com/office/drawing/2014/main" id="{7B95A416-83FC-01EA-8004-254DEBAE50E1}"/>
              </a:ext>
            </a:extLst>
          </p:cNvPr>
          <p:cNvGrpSpPr/>
          <p:nvPr/>
        </p:nvGrpSpPr>
        <p:grpSpPr>
          <a:xfrm>
            <a:off x="2205260" y="4776716"/>
            <a:ext cx="152260" cy="146855"/>
            <a:chOff x="0" y="0"/>
            <a:chExt cx="108000" cy="104823"/>
          </a:xfrm>
        </p:grpSpPr>
        <p:sp>
          <p:nvSpPr>
            <p:cNvPr id="261" name="Oval 777">
              <a:extLst>
                <a:ext uri="{FF2B5EF4-FFF2-40B4-BE49-F238E27FC236}">
                  <a16:creationId xmlns:a16="http://schemas.microsoft.com/office/drawing/2014/main" id="{DB7752D8-A0A9-FFA0-F034-A1E638F8BB7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0" y="0"/>
              <a:ext cx="108000" cy="104823"/>
            </a:xfrm>
            <a:prstGeom prst="ellipse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cxnSp>
          <p:nvCxnSpPr>
            <p:cNvPr id="262" name="AutoShape 778">
              <a:extLst>
                <a:ext uri="{FF2B5EF4-FFF2-40B4-BE49-F238E27FC236}">
                  <a16:creationId xmlns:a16="http://schemas.microsoft.com/office/drawing/2014/main" id="{427B4208-FDE6-3354-89AF-E9F084681AE2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15816" y="15345"/>
              <a:ext cx="76368" cy="74120"/>
            </a:xfrm>
            <a:prstGeom prst="straightConnector1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3" name="AutoShape 779">
              <a:extLst>
                <a:ext uri="{FF2B5EF4-FFF2-40B4-BE49-F238E27FC236}">
                  <a16:creationId xmlns:a16="http://schemas.microsoft.com/office/drawing/2014/main" id="{837D5CD4-49CD-65CC-ED9F-5EABEA0D4013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V="1">
              <a:off x="18433" y="15345"/>
              <a:ext cx="73751" cy="81276"/>
            </a:xfrm>
            <a:prstGeom prst="straightConnector1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39" name="Groupe 238">
            <a:extLst>
              <a:ext uri="{FF2B5EF4-FFF2-40B4-BE49-F238E27FC236}">
                <a16:creationId xmlns:a16="http://schemas.microsoft.com/office/drawing/2014/main" id="{3E0C2732-E54F-F048-D0C5-D715980D112F}"/>
              </a:ext>
            </a:extLst>
          </p:cNvPr>
          <p:cNvGrpSpPr/>
          <p:nvPr/>
        </p:nvGrpSpPr>
        <p:grpSpPr>
          <a:xfrm>
            <a:off x="2869313" y="4274113"/>
            <a:ext cx="156739" cy="151332"/>
            <a:chOff x="159385" y="0"/>
            <a:chExt cx="111274" cy="108000"/>
          </a:xfrm>
        </p:grpSpPr>
        <p:sp>
          <p:nvSpPr>
            <p:cNvPr id="259" name="Oval 791">
              <a:extLst>
                <a:ext uri="{FF2B5EF4-FFF2-40B4-BE49-F238E27FC236}">
                  <a16:creationId xmlns:a16="http://schemas.microsoft.com/office/drawing/2014/main" id="{AE7D4EEA-C270-892F-42EE-8313F950677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159385" y="0"/>
              <a:ext cx="111274" cy="108000"/>
            </a:xfrm>
            <a:prstGeom prst="ellipse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sp>
          <p:nvSpPr>
            <p:cNvPr id="260" name="Oval 792">
              <a:extLst>
                <a:ext uri="{FF2B5EF4-FFF2-40B4-BE49-F238E27FC236}">
                  <a16:creationId xmlns:a16="http://schemas.microsoft.com/office/drawing/2014/main" id="{BCD482EA-FF6B-6553-09CE-75F9C55C54E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190501" y="30547"/>
              <a:ext cx="48990" cy="47784"/>
            </a:xfrm>
            <a:prstGeom prst="ellipse">
              <a:avLst/>
            </a:prstGeom>
            <a:solidFill>
              <a:schemeClr val="tx1">
                <a:lumMod val="100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chemeClr val="tx1">
                      <a:lumMod val="100000"/>
                      <a:lumOff val="0"/>
                    </a:schemeClr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</p:grpSp>
      <p:grpSp>
        <p:nvGrpSpPr>
          <p:cNvPr id="240" name="Groupe 239">
            <a:extLst>
              <a:ext uri="{FF2B5EF4-FFF2-40B4-BE49-F238E27FC236}">
                <a16:creationId xmlns:a16="http://schemas.microsoft.com/office/drawing/2014/main" id="{B8E016DC-104D-9F20-B9E9-8F11E9F95934}"/>
              </a:ext>
            </a:extLst>
          </p:cNvPr>
          <p:cNvGrpSpPr/>
          <p:nvPr/>
        </p:nvGrpSpPr>
        <p:grpSpPr>
          <a:xfrm>
            <a:off x="2632832" y="4665339"/>
            <a:ext cx="156739" cy="150437"/>
            <a:chOff x="0" y="302260"/>
            <a:chExt cx="111274" cy="108000"/>
          </a:xfrm>
        </p:grpSpPr>
        <p:sp>
          <p:nvSpPr>
            <p:cNvPr id="257" name="Oval 791">
              <a:extLst>
                <a:ext uri="{FF2B5EF4-FFF2-40B4-BE49-F238E27FC236}">
                  <a16:creationId xmlns:a16="http://schemas.microsoft.com/office/drawing/2014/main" id="{2A16A5C9-5EB6-0843-8B4E-DB41C9CCC80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0" y="302260"/>
              <a:ext cx="111274" cy="108000"/>
            </a:xfrm>
            <a:prstGeom prst="ellipse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sp>
          <p:nvSpPr>
            <p:cNvPr id="258" name="Oval 792">
              <a:extLst>
                <a:ext uri="{FF2B5EF4-FFF2-40B4-BE49-F238E27FC236}">
                  <a16:creationId xmlns:a16="http://schemas.microsoft.com/office/drawing/2014/main" id="{E06B104C-58A6-20F4-9F60-52318E030ED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31116" y="332807"/>
              <a:ext cx="48990" cy="47784"/>
            </a:xfrm>
            <a:prstGeom prst="ellipse">
              <a:avLst/>
            </a:prstGeom>
            <a:solidFill>
              <a:schemeClr val="tx1">
                <a:lumMod val="100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chemeClr val="tx1">
                      <a:lumMod val="100000"/>
                      <a:lumOff val="0"/>
                    </a:schemeClr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</p:grpSp>
      <p:grpSp>
        <p:nvGrpSpPr>
          <p:cNvPr id="241" name="Groupe 240">
            <a:extLst>
              <a:ext uri="{FF2B5EF4-FFF2-40B4-BE49-F238E27FC236}">
                <a16:creationId xmlns:a16="http://schemas.microsoft.com/office/drawing/2014/main" id="{CEB8AF1D-3C5C-F8ED-49D9-86FFBE281561}"/>
              </a:ext>
            </a:extLst>
          </p:cNvPr>
          <p:cNvGrpSpPr/>
          <p:nvPr/>
        </p:nvGrpSpPr>
        <p:grpSpPr>
          <a:xfrm>
            <a:off x="2342217" y="3605916"/>
            <a:ext cx="152260" cy="146855"/>
            <a:chOff x="0" y="0"/>
            <a:chExt cx="108000" cy="104823"/>
          </a:xfrm>
        </p:grpSpPr>
        <p:sp>
          <p:nvSpPr>
            <p:cNvPr id="254" name="Oval 777">
              <a:extLst>
                <a:ext uri="{FF2B5EF4-FFF2-40B4-BE49-F238E27FC236}">
                  <a16:creationId xmlns:a16="http://schemas.microsoft.com/office/drawing/2014/main" id="{5E94E9FD-EF9D-4B12-ED86-D33F95DB5F6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0" y="0"/>
              <a:ext cx="108000" cy="104823"/>
            </a:xfrm>
            <a:prstGeom prst="ellipse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cxnSp>
          <p:nvCxnSpPr>
            <p:cNvPr id="255" name="AutoShape 778">
              <a:extLst>
                <a:ext uri="{FF2B5EF4-FFF2-40B4-BE49-F238E27FC236}">
                  <a16:creationId xmlns:a16="http://schemas.microsoft.com/office/drawing/2014/main" id="{A080DB62-9B14-6211-01D3-40510B0EEA08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15816" y="15345"/>
              <a:ext cx="76368" cy="74120"/>
            </a:xfrm>
            <a:prstGeom prst="straightConnector1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" name="AutoShape 779">
              <a:extLst>
                <a:ext uri="{FF2B5EF4-FFF2-40B4-BE49-F238E27FC236}">
                  <a16:creationId xmlns:a16="http://schemas.microsoft.com/office/drawing/2014/main" id="{7F5750CF-C4D9-78F1-11D4-7235302B7186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V="1">
              <a:off x="18433" y="15345"/>
              <a:ext cx="73751" cy="81276"/>
            </a:xfrm>
            <a:prstGeom prst="straightConnector1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42" name="Groupe 241">
            <a:extLst>
              <a:ext uri="{FF2B5EF4-FFF2-40B4-BE49-F238E27FC236}">
                <a16:creationId xmlns:a16="http://schemas.microsoft.com/office/drawing/2014/main" id="{CE379BF1-2BC4-C13A-C85B-2E7710A4D177}"/>
              </a:ext>
            </a:extLst>
          </p:cNvPr>
          <p:cNvGrpSpPr/>
          <p:nvPr/>
        </p:nvGrpSpPr>
        <p:grpSpPr>
          <a:xfrm>
            <a:off x="2760881" y="3849005"/>
            <a:ext cx="152260" cy="145960"/>
            <a:chOff x="0" y="0"/>
            <a:chExt cx="108000" cy="104823"/>
          </a:xfrm>
        </p:grpSpPr>
        <p:sp>
          <p:nvSpPr>
            <p:cNvPr id="251" name="Oval 777">
              <a:extLst>
                <a:ext uri="{FF2B5EF4-FFF2-40B4-BE49-F238E27FC236}">
                  <a16:creationId xmlns:a16="http://schemas.microsoft.com/office/drawing/2014/main" id="{7F97AC87-9D60-C58D-DC6A-768D330FEC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0" y="0"/>
              <a:ext cx="108000" cy="104823"/>
            </a:xfrm>
            <a:prstGeom prst="ellipse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cxnSp>
          <p:nvCxnSpPr>
            <p:cNvPr id="252" name="AutoShape 778">
              <a:extLst>
                <a:ext uri="{FF2B5EF4-FFF2-40B4-BE49-F238E27FC236}">
                  <a16:creationId xmlns:a16="http://schemas.microsoft.com/office/drawing/2014/main" id="{6FC44AFA-1EB3-9545-3894-6108142B3953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15816" y="15345"/>
              <a:ext cx="76368" cy="74120"/>
            </a:xfrm>
            <a:prstGeom prst="straightConnector1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3" name="AutoShape 779">
              <a:extLst>
                <a:ext uri="{FF2B5EF4-FFF2-40B4-BE49-F238E27FC236}">
                  <a16:creationId xmlns:a16="http://schemas.microsoft.com/office/drawing/2014/main" id="{1C00C241-6387-89DE-925B-023373386B2D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V="1">
              <a:off x="18433" y="15345"/>
              <a:ext cx="73751" cy="81276"/>
            </a:xfrm>
            <a:prstGeom prst="straightConnector1">
              <a:avLst/>
            </a:prstGeom>
            <a:noFill/>
            <a:ln w="3175">
              <a:solidFill>
                <a:schemeClr val="tx1">
                  <a:lumMod val="100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43" name="Connecteur droit 242">
            <a:extLst>
              <a:ext uri="{FF2B5EF4-FFF2-40B4-BE49-F238E27FC236}">
                <a16:creationId xmlns:a16="http://schemas.microsoft.com/office/drawing/2014/main" id="{3CA11944-ADB4-823E-486F-2903E992A925}"/>
              </a:ext>
            </a:extLst>
          </p:cNvPr>
          <p:cNvCxnSpPr/>
          <p:nvPr/>
        </p:nvCxnSpPr>
        <p:spPr>
          <a:xfrm flipV="1">
            <a:off x="6191144" y="3687443"/>
            <a:ext cx="21450" cy="2008959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necteur droit 243">
            <a:extLst>
              <a:ext uri="{FF2B5EF4-FFF2-40B4-BE49-F238E27FC236}">
                <a16:creationId xmlns:a16="http://schemas.microsoft.com/office/drawing/2014/main" id="{F83A332A-8F84-337D-1922-40B0E3C3326D}"/>
              </a:ext>
            </a:extLst>
          </p:cNvPr>
          <p:cNvCxnSpPr/>
          <p:nvPr/>
        </p:nvCxnSpPr>
        <p:spPr>
          <a:xfrm flipV="1">
            <a:off x="6192467" y="3848968"/>
            <a:ext cx="987146" cy="1661953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onnecteur droit 244">
            <a:extLst>
              <a:ext uri="{FF2B5EF4-FFF2-40B4-BE49-F238E27FC236}">
                <a16:creationId xmlns:a16="http://schemas.microsoft.com/office/drawing/2014/main" id="{33281669-4E27-F505-85E6-0C4EFD22D278}"/>
              </a:ext>
            </a:extLst>
          </p:cNvPr>
          <p:cNvCxnSpPr/>
          <p:nvPr/>
        </p:nvCxnSpPr>
        <p:spPr>
          <a:xfrm flipH="1" flipV="1">
            <a:off x="5370316" y="3983504"/>
            <a:ext cx="820677" cy="1511853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onnecteur droit 245">
            <a:extLst>
              <a:ext uri="{FF2B5EF4-FFF2-40B4-BE49-F238E27FC236}">
                <a16:creationId xmlns:a16="http://schemas.microsoft.com/office/drawing/2014/main" id="{C8DE2C59-07F1-1FE5-9682-3D2C56CCE61C}"/>
              </a:ext>
            </a:extLst>
          </p:cNvPr>
          <p:cNvCxnSpPr/>
          <p:nvPr/>
        </p:nvCxnSpPr>
        <p:spPr>
          <a:xfrm flipH="1" flipV="1">
            <a:off x="5241955" y="4070383"/>
            <a:ext cx="950512" cy="1440538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Arc 246">
            <a:extLst>
              <a:ext uri="{FF2B5EF4-FFF2-40B4-BE49-F238E27FC236}">
                <a16:creationId xmlns:a16="http://schemas.microsoft.com/office/drawing/2014/main" id="{5F1EF354-678D-16CF-8269-889B928B076D}"/>
              </a:ext>
            </a:extLst>
          </p:cNvPr>
          <p:cNvSpPr/>
          <p:nvPr/>
        </p:nvSpPr>
        <p:spPr>
          <a:xfrm rot="20823907">
            <a:off x="5574241" y="3720050"/>
            <a:ext cx="1627802" cy="1171998"/>
          </a:xfrm>
          <a:prstGeom prst="arc">
            <a:avLst>
              <a:gd name="adj1" fmla="val 16200000"/>
              <a:gd name="adj2" fmla="val 20794075"/>
            </a:avLst>
          </a:prstGeom>
          <a:ln w="317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248" name="Zone de texte 15">
            <a:extLst>
              <a:ext uri="{FF2B5EF4-FFF2-40B4-BE49-F238E27FC236}">
                <a16:creationId xmlns:a16="http://schemas.microsoft.com/office/drawing/2014/main" id="{0034F5EE-7062-9839-421D-9790B98CA2CA}"/>
              </a:ext>
            </a:extLst>
          </p:cNvPr>
          <p:cNvSpPr txBox="1"/>
          <p:nvPr/>
        </p:nvSpPr>
        <p:spPr>
          <a:xfrm>
            <a:off x="6514100" y="3320570"/>
            <a:ext cx="702189" cy="54980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25000"/>
              </a:lnSpc>
              <a:buNone/>
            </a:pPr>
            <a:r>
              <a:rPr lang="fr-FR" sz="1000"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α</a:t>
            </a:r>
            <a:r>
              <a:rPr lang="fr-FR" sz="1000" baseline="-25000"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r</a:t>
            </a:r>
            <a:endParaRPr lang="fr-FR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49" name="Arc 248">
            <a:extLst>
              <a:ext uri="{FF2B5EF4-FFF2-40B4-BE49-F238E27FC236}">
                <a16:creationId xmlns:a16="http://schemas.microsoft.com/office/drawing/2014/main" id="{E05FF28B-8455-C33F-2F9C-95A9F0CAEFD9}"/>
              </a:ext>
            </a:extLst>
          </p:cNvPr>
          <p:cNvSpPr/>
          <p:nvPr/>
        </p:nvSpPr>
        <p:spPr>
          <a:xfrm rot="17133862">
            <a:off x="5239452" y="3923212"/>
            <a:ext cx="281481" cy="359481"/>
          </a:xfrm>
          <a:prstGeom prst="arc">
            <a:avLst>
              <a:gd name="adj1" fmla="val 16200000"/>
              <a:gd name="adj2" fmla="val 20794075"/>
            </a:avLst>
          </a:prstGeom>
          <a:ln w="317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250" name="Zone de texte 15">
            <a:extLst>
              <a:ext uri="{FF2B5EF4-FFF2-40B4-BE49-F238E27FC236}">
                <a16:creationId xmlns:a16="http://schemas.microsoft.com/office/drawing/2014/main" id="{75161205-47C1-E116-4E55-8A085F5FE7D5}"/>
              </a:ext>
            </a:extLst>
          </p:cNvPr>
          <p:cNvSpPr txBox="1"/>
          <p:nvPr/>
        </p:nvSpPr>
        <p:spPr>
          <a:xfrm>
            <a:off x="5017504" y="3536857"/>
            <a:ext cx="702189" cy="54891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25000"/>
              </a:lnSpc>
              <a:buNone/>
            </a:pPr>
            <a:r>
              <a:rPr lang="fr-FR" sz="1000"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α</a:t>
            </a:r>
            <a:r>
              <a:rPr lang="fr-FR" sz="1000" baseline="-25000"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es</a:t>
            </a:r>
            <a:endParaRPr lang="fr-FR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03" name="Tableau 302">
            <a:extLst>
              <a:ext uri="{FF2B5EF4-FFF2-40B4-BE49-F238E27FC236}">
                <a16:creationId xmlns:a16="http://schemas.microsoft.com/office/drawing/2014/main" id="{9BC47589-1547-1BA2-8F06-00F594F73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422150"/>
              </p:ext>
            </p:extLst>
          </p:nvPr>
        </p:nvGraphicFramePr>
        <p:xfrm>
          <a:off x="6096000" y="1163116"/>
          <a:ext cx="5143500" cy="15716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589833802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377034443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Outer radius of the stator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44 mm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799069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Inner radius of the stator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25 mm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728098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Angle α</a:t>
                      </a:r>
                      <a:r>
                        <a:rPr lang="fr-FR" sz="1100" u="none" strike="noStrike" baseline="-25000">
                          <a:effectLst/>
                        </a:rPr>
                        <a:t>r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30°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4805977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Angle α</a:t>
                      </a:r>
                      <a:r>
                        <a:rPr lang="fr-FR" sz="1100" u="none" strike="noStrike" baseline="-25000">
                          <a:effectLst/>
                        </a:rPr>
                        <a:t>es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4°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527688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Active length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52 mm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0760637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Relative </a:t>
                      </a:r>
                      <a:r>
                        <a:rPr lang="fr-FR" sz="1100" u="none" strike="noStrike" dirty="0" err="1">
                          <a:effectLst/>
                        </a:rPr>
                        <a:t>permeability</a:t>
                      </a:r>
                      <a:r>
                        <a:rPr lang="fr-FR" sz="1100" u="none" strike="noStrike" dirty="0">
                          <a:effectLst/>
                        </a:rPr>
                        <a:t> of the </a:t>
                      </a:r>
                      <a:r>
                        <a:rPr lang="fr-FR" sz="1100" u="none" strike="noStrike" dirty="0" err="1">
                          <a:effectLst/>
                        </a:rPr>
                        <a:t>steel</a:t>
                      </a:r>
                      <a:r>
                        <a:rPr lang="fr-FR" sz="1100" u="none" strike="noStrike" dirty="0">
                          <a:effectLst/>
                        </a:rPr>
                        <a:t> µ</a:t>
                      </a:r>
                      <a:r>
                        <a:rPr lang="fr-FR" sz="1100" u="none" strike="noStrike" baseline="-25000" dirty="0">
                          <a:effectLst/>
                        </a:rPr>
                        <a:t>r</a:t>
                      </a:r>
                      <a:endParaRPr lang="fr-FR" sz="11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∞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440323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Number of </a:t>
                      </a:r>
                      <a:r>
                        <a:rPr lang="fr-FR" sz="1100" u="none" strike="noStrike" dirty="0" err="1">
                          <a:effectLst/>
                        </a:rPr>
                        <a:t>turns</a:t>
                      </a:r>
                      <a:r>
                        <a:rPr lang="fr-FR" sz="1100" u="none" strike="noStrike" dirty="0">
                          <a:effectLst/>
                        </a:rPr>
                        <a:t> of a stator </a:t>
                      </a:r>
                      <a:r>
                        <a:rPr lang="fr-FR" sz="1100" u="none" strike="noStrike" dirty="0" err="1">
                          <a:effectLst/>
                        </a:rPr>
                        <a:t>coil</a:t>
                      </a:r>
                      <a:r>
                        <a:rPr lang="fr-FR" sz="1100" u="none" strike="noStrike" dirty="0">
                          <a:effectLst/>
                        </a:rPr>
                        <a:t> (</a:t>
                      </a:r>
                      <a:r>
                        <a:rPr lang="fr-FR" sz="1100" u="none" strike="noStrike" dirty="0" err="1">
                          <a:effectLst/>
                        </a:rPr>
                        <a:t>coils</a:t>
                      </a:r>
                      <a:r>
                        <a:rPr lang="fr-FR" sz="1100" u="none" strike="noStrike" dirty="0">
                          <a:effectLst/>
                        </a:rPr>
                        <a:t> are in </a:t>
                      </a:r>
                      <a:r>
                        <a:rPr lang="fr-FR" sz="1100" u="none" strike="noStrike" dirty="0" err="1">
                          <a:effectLst/>
                        </a:rPr>
                        <a:t>series</a:t>
                      </a:r>
                      <a:r>
                        <a:rPr lang="fr-FR" sz="1100" u="none" strike="noStrike" dirty="0">
                          <a:effectLst/>
                        </a:rPr>
                        <a:t>)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90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471329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Number of turns of a rotor coil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30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31165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3468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17F38-92BB-CBF4-D8D3-6B62AD816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0A28455-E6D4-1649-B47F-DD935EC56183}"/>
              </a:ext>
            </a:extLst>
          </p:cNvPr>
          <p:cNvCxnSpPr>
            <a:cxnSpLocks/>
          </p:cNvCxnSpPr>
          <p:nvPr/>
        </p:nvCxnSpPr>
        <p:spPr>
          <a:xfrm>
            <a:off x="433459" y="579473"/>
            <a:ext cx="6782830" cy="0"/>
          </a:xfrm>
          <a:prstGeom prst="line">
            <a:avLst/>
          </a:prstGeom>
          <a:ln>
            <a:solidFill>
              <a:srgbClr val="6C0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0BD9DEE6-52C2-0616-450D-A952B3D97C91}"/>
              </a:ext>
            </a:extLst>
          </p:cNvPr>
          <p:cNvSpPr txBox="1"/>
          <p:nvPr/>
        </p:nvSpPr>
        <p:spPr>
          <a:xfrm>
            <a:off x="10523839" y="6372307"/>
            <a:ext cx="166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2026-2027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7FC63F1-2BAB-77BA-D931-F60A9B5E25AA}"/>
              </a:ext>
            </a:extLst>
          </p:cNvPr>
          <p:cNvSpPr txBox="1"/>
          <p:nvPr/>
        </p:nvSpPr>
        <p:spPr>
          <a:xfrm>
            <a:off x="370703" y="117808"/>
            <a:ext cx="759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C0042"/>
                </a:solidFill>
              </a:rPr>
              <a:t>Study of a </a:t>
            </a:r>
            <a:r>
              <a:rPr lang="fr-FR" sz="2400" dirty="0" err="1">
                <a:solidFill>
                  <a:srgbClr val="6C0042"/>
                </a:solidFill>
              </a:rPr>
              <a:t>synchronous</a:t>
            </a:r>
            <a:r>
              <a:rPr lang="fr-FR" sz="2400" dirty="0">
                <a:solidFill>
                  <a:srgbClr val="6C0042"/>
                </a:solidFill>
              </a:rPr>
              <a:t> </a:t>
            </a:r>
            <a:r>
              <a:rPr lang="fr-FR" sz="2400" dirty="0" err="1">
                <a:solidFill>
                  <a:srgbClr val="6C0042"/>
                </a:solidFill>
              </a:rPr>
              <a:t>motor</a:t>
            </a:r>
            <a:r>
              <a:rPr lang="fr-FR" sz="2400" dirty="0">
                <a:solidFill>
                  <a:srgbClr val="6C0042"/>
                </a:solidFill>
              </a:rPr>
              <a:t> </a:t>
            </a:r>
            <a:r>
              <a:rPr lang="fr-FR" sz="2400" dirty="0" err="1">
                <a:solidFill>
                  <a:srgbClr val="6C0042"/>
                </a:solidFill>
              </a:rPr>
              <a:t>with</a:t>
            </a:r>
            <a:r>
              <a:rPr lang="fr-FR" sz="2400" dirty="0">
                <a:solidFill>
                  <a:srgbClr val="6C0042"/>
                </a:solidFill>
              </a:rPr>
              <a:t> a </a:t>
            </a:r>
            <a:r>
              <a:rPr lang="fr-FR" sz="2400" dirty="0" err="1">
                <a:solidFill>
                  <a:srgbClr val="6C0042"/>
                </a:solidFill>
              </a:rPr>
              <a:t>wound</a:t>
            </a:r>
            <a:r>
              <a:rPr lang="fr-FR" sz="2400" dirty="0">
                <a:solidFill>
                  <a:srgbClr val="6C0042"/>
                </a:solidFill>
              </a:rPr>
              <a:t> rotor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B55F11A-077A-5288-54E2-5C726AE67FFA}"/>
              </a:ext>
            </a:extLst>
          </p:cNvPr>
          <p:cNvSpPr txBox="1"/>
          <p:nvPr/>
        </p:nvSpPr>
        <p:spPr>
          <a:xfrm>
            <a:off x="602129" y="1041138"/>
            <a:ext cx="1098774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 3" panose="05040102010807070707" pitchFamily="18" charset="2"/>
              <a:buChar char="_"/>
            </a:pPr>
            <a:r>
              <a:rPr lang="fr-FR" sz="2000" dirty="0"/>
              <a:t>Number of pole pairs of the </a:t>
            </a:r>
            <a:r>
              <a:rPr lang="fr-FR" sz="2000" dirty="0" err="1"/>
              <a:t>motor</a:t>
            </a:r>
            <a:r>
              <a:rPr lang="fr-FR" sz="2000" dirty="0"/>
              <a:t> ?</a:t>
            </a:r>
          </a:p>
          <a:p>
            <a:endParaRPr lang="fr-FR" sz="2000" dirty="0"/>
          </a:p>
          <a:p>
            <a:pPr marL="342900" indent="-342900">
              <a:buFont typeface="Wingdings 3" panose="05040102010807070707" pitchFamily="18" charset="2"/>
              <a:buChar char="_"/>
            </a:pPr>
            <a:r>
              <a:rPr lang="fr-FR" sz="2000" dirty="0"/>
              <a:t>Components of the </a:t>
            </a:r>
            <a:r>
              <a:rPr lang="fr-FR" sz="2000" dirty="0" err="1"/>
              <a:t>magnetic</a:t>
            </a:r>
            <a:r>
              <a:rPr lang="fr-FR" sz="2000" dirty="0"/>
              <a:t> torque </a:t>
            </a:r>
            <a:r>
              <a:rPr lang="fr-FR" sz="2000" dirty="0" err="1"/>
              <a:t>produced</a:t>
            </a:r>
            <a:r>
              <a:rPr lang="fr-FR" sz="2000" dirty="0"/>
              <a:t> by </a:t>
            </a:r>
            <a:r>
              <a:rPr lang="fr-FR" sz="2000" dirty="0" err="1"/>
              <a:t>this</a:t>
            </a:r>
            <a:r>
              <a:rPr lang="fr-FR" sz="2000" dirty="0"/>
              <a:t> </a:t>
            </a:r>
            <a:r>
              <a:rPr lang="fr-FR" sz="2000" dirty="0" err="1"/>
              <a:t>motor</a:t>
            </a:r>
            <a:r>
              <a:rPr lang="fr-FR" sz="2000" dirty="0"/>
              <a:t> ?</a:t>
            </a:r>
          </a:p>
          <a:p>
            <a:pPr marL="342900" indent="-342900">
              <a:buFont typeface="Wingdings 3" panose="05040102010807070707" pitchFamily="18" charset="2"/>
              <a:buChar char="_"/>
            </a:pPr>
            <a:endParaRPr lang="fr-FR" sz="2000" dirty="0"/>
          </a:p>
          <a:p>
            <a:pPr marL="342900" indent="-342900">
              <a:buFont typeface="Wingdings 3" panose="05040102010807070707" pitchFamily="18" charset="2"/>
              <a:buChar char="_"/>
            </a:pPr>
            <a:r>
              <a:rPr lang="fr-FR" sz="2000" dirty="0"/>
              <a:t>Comment the </a:t>
            </a:r>
            <a:r>
              <a:rPr lang="fr-FR" sz="2000" dirty="0" err="1"/>
              <a:t>geometry</a:t>
            </a:r>
            <a:r>
              <a:rPr lang="fr-FR" sz="2000" dirty="0"/>
              <a:t> </a:t>
            </a:r>
            <a:r>
              <a:rPr lang="fr-FR" sz="2000" dirty="0" err="1"/>
              <a:t>drawn</a:t>
            </a:r>
            <a:r>
              <a:rPr lang="fr-FR" sz="2000" dirty="0"/>
              <a:t> </a:t>
            </a:r>
            <a:r>
              <a:rPr lang="fr-FR" sz="2000" dirty="0" err="1"/>
              <a:t>under</a:t>
            </a:r>
            <a:r>
              <a:rPr lang="fr-FR" sz="2000" dirty="0"/>
              <a:t> FEMM</a:t>
            </a:r>
          </a:p>
          <a:p>
            <a:pPr marL="342900" indent="-342900">
              <a:buFont typeface="Wingdings 3" panose="05040102010807070707" pitchFamily="18" charset="2"/>
              <a:buChar char="_"/>
            </a:pPr>
            <a:endParaRPr lang="fr-FR" sz="2000" dirty="0"/>
          </a:p>
          <a:p>
            <a:pPr marL="342900" indent="-342900">
              <a:buFont typeface="Wingdings 3" panose="05040102010807070707" pitchFamily="18" charset="2"/>
              <a:buChar char="_"/>
            </a:pPr>
            <a:r>
              <a:rPr lang="en-US" sz="2000" dirty="0"/>
              <a:t>Estimate resistance of one phase ( with current density equal to 5A/mm</a:t>
            </a:r>
            <a:r>
              <a:rPr lang="en-US" sz="2000" baseline="30000" dirty="0"/>
              <a:t>2</a:t>
            </a:r>
            <a:r>
              <a:rPr lang="en-US" sz="2000" dirty="0"/>
              <a:t>)</a:t>
            </a:r>
            <a:endParaRPr lang="fr-FR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14989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79158-6805-4838-7A06-E0B38056D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DE8DDE4C-74C0-53A7-9D62-9B4B5E06C68D}"/>
              </a:ext>
            </a:extLst>
          </p:cNvPr>
          <p:cNvCxnSpPr>
            <a:cxnSpLocks/>
          </p:cNvCxnSpPr>
          <p:nvPr/>
        </p:nvCxnSpPr>
        <p:spPr>
          <a:xfrm>
            <a:off x="433459" y="579473"/>
            <a:ext cx="6782830" cy="0"/>
          </a:xfrm>
          <a:prstGeom prst="line">
            <a:avLst/>
          </a:prstGeom>
          <a:ln>
            <a:solidFill>
              <a:srgbClr val="6C0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FE89A60F-55F8-4D95-BC47-EF477256F836}"/>
              </a:ext>
            </a:extLst>
          </p:cNvPr>
          <p:cNvSpPr txBox="1"/>
          <p:nvPr/>
        </p:nvSpPr>
        <p:spPr>
          <a:xfrm>
            <a:off x="10523839" y="6372307"/>
            <a:ext cx="166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2026-2027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9C9EE0C-798B-D128-2C5B-53CACDDF223D}"/>
              </a:ext>
            </a:extLst>
          </p:cNvPr>
          <p:cNvSpPr txBox="1"/>
          <p:nvPr/>
        </p:nvSpPr>
        <p:spPr>
          <a:xfrm>
            <a:off x="370703" y="117808"/>
            <a:ext cx="759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C0042"/>
                </a:solidFill>
              </a:rPr>
              <a:t>Study of a </a:t>
            </a:r>
            <a:r>
              <a:rPr lang="fr-FR" sz="2400" dirty="0" err="1">
                <a:solidFill>
                  <a:srgbClr val="6C0042"/>
                </a:solidFill>
              </a:rPr>
              <a:t>synchronous</a:t>
            </a:r>
            <a:r>
              <a:rPr lang="fr-FR" sz="2400" dirty="0">
                <a:solidFill>
                  <a:srgbClr val="6C0042"/>
                </a:solidFill>
              </a:rPr>
              <a:t> </a:t>
            </a:r>
            <a:r>
              <a:rPr lang="fr-FR" sz="2400" dirty="0" err="1">
                <a:solidFill>
                  <a:srgbClr val="6C0042"/>
                </a:solidFill>
              </a:rPr>
              <a:t>motor</a:t>
            </a:r>
            <a:r>
              <a:rPr lang="fr-FR" sz="2400" dirty="0">
                <a:solidFill>
                  <a:srgbClr val="6C0042"/>
                </a:solidFill>
              </a:rPr>
              <a:t> </a:t>
            </a:r>
            <a:r>
              <a:rPr lang="fr-FR" sz="2400" dirty="0" err="1">
                <a:solidFill>
                  <a:srgbClr val="6C0042"/>
                </a:solidFill>
              </a:rPr>
              <a:t>with</a:t>
            </a:r>
            <a:r>
              <a:rPr lang="fr-FR" sz="2400" dirty="0">
                <a:solidFill>
                  <a:srgbClr val="6C0042"/>
                </a:solidFill>
              </a:rPr>
              <a:t> a </a:t>
            </a:r>
            <a:r>
              <a:rPr lang="fr-FR" sz="2400" dirty="0" err="1">
                <a:solidFill>
                  <a:srgbClr val="6C0042"/>
                </a:solidFill>
              </a:rPr>
              <a:t>wound</a:t>
            </a:r>
            <a:r>
              <a:rPr lang="fr-FR" sz="2400" dirty="0">
                <a:solidFill>
                  <a:srgbClr val="6C0042"/>
                </a:solidFill>
              </a:rPr>
              <a:t> rotor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803A660-37A0-147C-3332-0DC008FD35EB}"/>
              </a:ext>
            </a:extLst>
          </p:cNvPr>
          <p:cNvSpPr txBox="1"/>
          <p:nvPr/>
        </p:nvSpPr>
        <p:spPr>
          <a:xfrm>
            <a:off x="602129" y="1041138"/>
            <a:ext cx="10987741" cy="4972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 3" panose="05040102010807070707" pitchFamily="18" charset="2"/>
              <a:buChar char="_"/>
            </a:pPr>
            <a:r>
              <a:rPr lang="fr-FR" sz="2000" dirty="0"/>
              <a:t>At no </a:t>
            </a:r>
            <a:r>
              <a:rPr lang="fr-FR" sz="2000" dirty="0" err="1"/>
              <a:t>load</a:t>
            </a:r>
            <a:r>
              <a:rPr lang="fr-FR" sz="2000" dirty="0"/>
              <a:t> </a:t>
            </a:r>
            <a:r>
              <a:rPr lang="fr-FR" sz="2000" dirty="0" err="1"/>
              <a:t>working</a:t>
            </a:r>
            <a:r>
              <a:rPr lang="fr-FR" sz="2000" dirty="0"/>
              <a:t> : 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fr-FR" sz="2000" dirty="0" err="1"/>
              <a:t>Supply</a:t>
            </a:r>
            <a:r>
              <a:rPr lang="fr-FR" sz="2000" dirty="0"/>
              <a:t> </a:t>
            </a:r>
            <a:r>
              <a:rPr lang="fr-FR" sz="2000" dirty="0" err="1"/>
              <a:t>only</a:t>
            </a:r>
            <a:r>
              <a:rPr lang="fr-FR" sz="2000" dirty="0"/>
              <a:t> the </a:t>
            </a:r>
            <a:r>
              <a:rPr lang="fr-FR" sz="2000" dirty="0" err="1"/>
              <a:t>coils</a:t>
            </a:r>
            <a:r>
              <a:rPr lang="fr-FR" sz="2000" dirty="0"/>
              <a:t> in the rotor (I</a:t>
            </a:r>
            <a:r>
              <a:rPr lang="fr-FR" sz="2000" baseline="-25000" dirty="0"/>
              <a:t>r </a:t>
            </a:r>
            <a:r>
              <a:rPr lang="fr-FR" sz="2000" dirty="0"/>
              <a:t>= 1 A) 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fr-FR" sz="2000" dirty="0"/>
              <a:t>Observe and comment the </a:t>
            </a:r>
            <a:r>
              <a:rPr lang="fr-FR" sz="2000" dirty="0" err="1"/>
              <a:t>magnetic</a:t>
            </a:r>
            <a:r>
              <a:rPr lang="fr-FR" sz="2000" dirty="0"/>
              <a:t> flux </a:t>
            </a:r>
            <a:r>
              <a:rPr lang="fr-FR" sz="2000" dirty="0" err="1"/>
              <a:t>density</a:t>
            </a:r>
            <a:endParaRPr lang="fr-FR" sz="2000" dirty="0"/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fr-FR" sz="2000" dirty="0" err="1"/>
              <a:t>Compute</a:t>
            </a:r>
            <a:r>
              <a:rPr lang="fr-FR" sz="2000" dirty="0"/>
              <a:t> and </a:t>
            </a:r>
            <a:r>
              <a:rPr lang="fr-FR" sz="2000" dirty="0" err="1"/>
              <a:t>verify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</a:t>
            </a:r>
            <a:r>
              <a:rPr lang="fr-FR" sz="2000" dirty="0" err="1"/>
              <a:t>Femm</a:t>
            </a:r>
            <a:r>
              <a:rPr lang="fr-FR" sz="2000" dirty="0"/>
              <a:t> the </a:t>
            </a:r>
            <a:r>
              <a:rPr lang="fr-FR" sz="2000" dirty="0" err="1"/>
              <a:t>magnetic</a:t>
            </a:r>
            <a:r>
              <a:rPr lang="fr-FR" sz="2000" dirty="0"/>
              <a:t> flux </a:t>
            </a:r>
            <a:r>
              <a:rPr lang="fr-FR" sz="2000" dirty="0" err="1"/>
              <a:t>density</a:t>
            </a:r>
            <a:r>
              <a:rPr lang="fr-FR" sz="2000" dirty="0"/>
              <a:t> </a:t>
            </a:r>
            <a:r>
              <a:rPr lang="fr-FR" sz="2000" dirty="0" err="1"/>
              <a:t>where</a:t>
            </a:r>
            <a:r>
              <a:rPr lang="fr-FR" sz="2000" dirty="0"/>
              <a:t> the </a:t>
            </a:r>
            <a:r>
              <a:rPr lang="fr-FR" sz="2000" dirty="0" err="1"/>
              <a:t>airgap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the </a:t>
            </a:r>
            <a:r>
              <a:rPr lang="fr-FR" sz="2000" dirty="0" err="1"/>
              <a:t>smaller</a:t>
            </a:r>
            <a:endParaRPr lang="fr-FR" sz="2000" dirty="0"/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fr-FR" sz="2000" dirty="0" err="1"/>
              <a:t>Discuss</a:t>
            </a:r>
            <a:r>
              <a:rPr lang="fr-FR" sz="2000" dirty="0"/>
              <a:t> about the pitch factor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fr-FR" sz="2000" dirty="0"/>
              <a:t>Use the script </a:t>
            </a:r>
            <a:r>
              <a:rPr lang="fr-FR" sz="2000" dirty="0" err="1"/>
              <a:t>move_rotor</a:t>
            </a:r>
            <a:r>
              <a:rPr lang="fr-FR" sz="2000" dirty="0"/>
              <a:t> and observe the stator flux linkages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fr-FR" sz="2000" dirty="0" err="1"/>
              <a:t>Determine</a:t>
            </a:r>
            <a:r>
              <a:rPr lang="fr-FR" sz="2000" dirty="0"/>
              <a:t> the </a:t>
            </a:r>
            <a:r>
              <a:rPr lang="fr-FR" sz="2000" dirty="0" err="1"/>
              <a:t>harmonic</a:t>
            </a:r>
            <a:r>
              <a:rPr lang="fr-FR" sz="2000" dirty="0"/>
              <a:t> </a:t>
            </a:r>
            <a:r>
              <a:rPr lang="fr-FR" sz="2000" dirty="0" err="1"/>
              <a:t>contain</a:t>
            </a:r>
            <a:r>
              <a:rPr lang="fr-FR" sz="2000" dirty="0"/>
              <a:t> of the stator fluxes (</a:t>
            </a:r>
            <a:r>
              <a:rPr lang="fr-FR" sz="2000" dirty="0" err="1"/>
              <a:t>why</a:t>
            </a:r>
            <a:r>
              <a:rPr lang="fr-FR" sz="2000" dirty="0"/>
              <a:t> the </a:t>
            </a:r>
            <a:r>
              <a:rPr lang="fr-FR" sz="2000" dirty="0" err="1"/>
              <a:t>third</a:t>
            </a:r>
            <a:r>
              <a:rPr lang="fr-FR" sz="2000" dirty="0"/>
              <a:t> </a:t>
            </a:r>
            <a:r>
              <a:rPr lang="fr-FR" sz="2000" dirty="0" err="1"/>
              <a:t>harmonic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</a:t>
            </a:r>
            <a:r>
              <a:rPr lang="fr-FR" sz="2000" dirty="0" err="1"/>
              <a:t>null</a:t>
            </a:r>
            <a:r>
              <a:rPr lang="fr-FR" sz="2000" dirty="0"/>
              <a:t> ?)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fr-FR" sz="2000" dirty="0" err="1"/>
              <a:t>Compute</a:t>
            </a:r>
            <a:r>
              <a:rPr lang="fr-FR" sz="2000" dirty="0"/>
              <a:t> the no </a:t>
            </a:r>
            <a:r>
              <a:rPr lang="fr-FR" sz="2000" dirty="0" err="1"/>
              <a:t>load</a:t>
            </a:r>
            <a:r>
              <a:rPr lang="fr-FR" sz="2000" dirty="0"/>
              <a:t> </a:t>
            </a:r>
            <a:r>
              <a:rPr lang="fr-FR" sz="2000" dirty="0" err="1"/>
              <a:t>EMFs</a:t>
            </a:r>
            <a:r>
              <a:rPr lang="fr-FR" sz="2000" dirty="0"/>
              <a:t> </a:t>
            </a:r>
            <a:r>
              <a:rPr lang="fr-FR" sz="2000" dirty="0" err="1"/>
              <a:t>induced</a:t>
            </a:r>
            <a:r>
              <a:rPr lang="fr-FR" sz="2000" dirty="0"/>
              <a:t> at a speed of 1500 </a:t>
            </a:r>
            <a:r>
              <a:rPr lang="fr-FR" sz="2000" dirty="0" err="1"/>
              <a:t>rpm</a:t>
            </a:r>
            <a:endParaRPr lang="fr-FR" sz="2000" dirty="0"/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fr-FR" sz="2000" dirty="0" err="1"/>
              <a:t>Determine</a:t>
            </a:r>
            <a:r>
              <a:rPr lang="fr-FR" sz="2000" dirty="0"/>
              <a:t> the </a:t>
            </a:r>
            <a:r>
              <a:rPr lang="fr-FR" sz="2000" dirty="0" err="1"/>
              <a:t>harmonic</a:t>
            </a:r>
            <a:r>
              <a:rPr lang="fr-FR" sz="2000" dirty="0"/>
              <a:t> </a:t>
            </a:r>
            <a:r>
              <a:rPr lang="fr-FR" sz="2000" dirty="0" err="1"/>
              <a:t>contain</a:t>
            </a:r>
            <a:r>
              <a:rPr lang="fr-FR" sz="2000" dirty="0"/>
              <a:t> of the </a:t>
            </a:r>
            <a:r>
              <a:rPr lang="fr-FR" sz="2000" dirty="0" err="1"/>
              <a:t>EMFs</a:t>
            </a:r>
            <a:r>
              <a:rPr lang="fr-FR" sz="2000" dirty="0"/>
              <a:t> and comment	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fr-FR" sz="2000" dirty="0"/>
              <a:t>Comment the </a:t>
            </a:r>
            <a:r>
              <a:rPr lang="fr-FR" sz="2000" dirty="0" err="1"/>
              <a:t>shape</a:t>
            </a:r>
            <a:r>
              <a:rPr lang="fr-FR" sz="2000" dirty="0"/>
              <a:t> of the no-</a:t>
            </a:r>
            <a:r>
              <a:rPr lang="fr-FR" sz="2000" dirty="0" err="1"/>
              <a:t>load</a:t>
            </a:r>
            <a:r>
              <a:rPr lang="fr-FR" sz="2000" dirty="0"/>
              <a:t> torque (</a:t>
            </a:r>
            <a:r>
              <a:rPr lang="fr-FR" sz="2000" dirty="0" err="1"/>
              <a:t>period</a:t>
            </a:r>
            <a:r>
              <a:rPr lang="fr-FR" sz="2000" dirty="0"/>
              <a:t>, no-</a:t>
            </a:r>
            <a:r>
              <a:rPr lang="fr-FR" sz="2000" dirty="0" err="1"/>
              <a:t>load</a:t>
            </a:r>
            <a:r>
              <a:rPr lang="fr-FR" sz="2000" dirty="0"/>
              <a:t> value), </a:t>
            </a:r>
            <a:r>
              <a:rPr lang="fr-FR" sz="2000" dirty="0" err="1"/>
              <a:t>try</a:t>
            </a:r>
            <a:r>
              <a:rPr lang="fr-FR" sz="2000" dirty="0"/>
              <a:t> to </a:t>
            </a:r>
            <a:r>
              <a:rPr lang="fr-FR" sz="2000" dirty="0" err="1"/>
              <a:t>improve</a:t>
            </a:r>
            <a:r>
              <a:rPr lang="fr-FR" sz="2000" dirty="0"/>
              <a:t> the </a:t>
            </a:r>
            <a:r>
              <a:rPr lang="fr-FR" sz="2000" dirty="0" err="1"/>
              <a:t>curve</a:t>
            </a:r>
            <a:endParaRPr lang="fr-FR" sz="2000" dirty="0"/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fr-FR" sz="2000" dirty="0" err="1"/>
              <a:t>Compute</a:t>
            </a:r>
            <a:r>
              <a:rPr lang="fr-FR" sz="2000" dirty="0"/>
              <a:t> the </a:t>
            </a:r>
            <a:r>
              <a:rPr lang="fr-FR" sz="2000" dirty="0" err="1"/>
              <a:t>airgap</a:t>
            </a:r>
            <a:r>
              <a:rPr lang="fr-FR" sz="2000" dirty="0"/>
              <a:t> </a:t>
            </a:r>
            <a:r>
              <a:rPr lang="fr-FR" sz="2000" dirty="0" err="1"/>
              <a:t>permeance</a:t>
            </a:r>
            <a:r>
              <a:rPr lang="fr-FR" sz="2000" dirty="0"/>
              <a:t> </a:t>
            </a:r>
            <a:r>
              <a:rPr lang="fr-FR" sz="2000" dirty="0" err="1"/>
              <a:t>density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463019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813C1-C74A-BECE-8DEF-3EB94404D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9ED844F7-7160-0C77-906A-95C4C3D799CB}"/>
              </a:ext>
            </a:extLst>
          </p:cNvPr>
          <p:cNvCxnSpPr>
            <a:cxnSpLocks/>
          </p:cNvCxnSpPr>
          <p:nvPr/>
        </p:nvCxnSpPr>
        <p:spPr>
          <a:xfrm>
            <a:off x="433459" y="579473"/>
            <a:ext cx="6782830" cy="0"/>
          </a:xfrm>
          <a:prstGeom prst="line">
            <a:avLst/>
          </a:prstGeom>
          <a:ln>
            <a:solidFill>
              <a:srgbClr val="6C0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CD29BBB1-5A04-6887-DE1C-4B5636EEF757}"/>
              </a:ext>
            </a:extLst>
          </p:cNvPr>
          <p:cNvSpPr txBox="1"/>
          <p:nvPr/>
        </p:nvSpPr>
        <p:spPr>
          <a:xfrm>
            <a:off x="10523839" y="6372307"/>
            <a:ext cx="166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2026-2027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43A4911-E0D0-6500-5979-1FE68A05CAD5}"/>
              </a:ext>
            </a:extLst>
          </p:cNvPr>
          <p:cNvSpPr txBox="1"/>
          <p:nvPr/>
        </p:nvSpPr>
        <p:spPr>
          <a:xfrm>
            <a:off x="370703" y="117808"/>
            <a:ext cx="759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C0042"/>
                </a:solidFill>
              </a:rPr>
              <a:t>Study of a </a:t>
            </a:r>
            <a:r>
              <a:rPr lang="fr-FR" sz="2400" dirty="0" err="1">
                <a:solidFill>
                  <a:srgbClr val="6C0042"/>
                </a:solidFill>
              </a:rPr>
              <a:t>synchronous</a:t>
            </a:r>
            <a:r>
              <a:rPr lang="fr-FR" sz="2400" dirty="0">
                <a:solidFill>
                  <a:srgbClr val="6C0042"/>
                </a:solidFill>
              </a:rPr>
              <a:t> </a:t>
            </a:r>
            <a:r>
              <a:rPr lang="fr-FR" sz="2400" dirty="0" err="1">
                <a:solidFill>
                  <a:srgbClr val="6C0042"/>
                </a:solidFill>
              </a:rPr>
              <a:t>motor</a:t>
            </a:r>
            <a:r>
              <a:rPr lang="fr-FR" sz="2400" dirty="0">
                <a:solidFill>
                  <a:srgbClr val="6C0042"/>
                </a:solidFill>
              </a:rPr>
              <a:t> </a:t>
            </a:r>
            <a:r>
              <a:rPr lang="fr-FR" sz="2400" dirty="0" err="1">
                <a:solidFill>
                  <a:srgbClr val="6C0042"/>
                </a:solidFill>
              </a:rPr>
              <a:t>with</a:t>
            </a:r>
            <a:r>
              <a:rPr lang="fr-FR" sz="2400" dirty="0">
                <a:solidFill>
                  <a:srgbClr val="6C0042"/>
                </a:solidFill>
              </a:rPr>
              <a:t> a </a:t>
            </a:r>
            <a:r>
              <a:rPr lang="fr-FR" sz="2400" dirty="0" err="1">
                <a:solidFill>
                  <a:srgbClr val="6C0042"/>
                </a:solidFill>
              </a:rPr>
              <a:t>wound</a:t>
            </a:r>
            <a:r>
              <a:rPr lang="fr-FR" sz="2400" dirty="0">
                <a:solidFill>
                  <a:srgbClr val="6C0042"/>
                </a:solidFill>
              </a:rPr>
              <a:t> rotor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8CDD1B3-44F6-0F7C-B6BD-2818D9AF68FC}"/>
              </a:ext>
            </a:extLst>
          </p:cNvPr>
          <p:cNvSpPr txBox="1"/>
          <p:nvPr/>
        </p:nvSpPr>
        <p:spPr>
          <a:xfrm>
            <a:off x="602130" y="1041138"/>
            <a:ext cx="523823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 3" panose="05040102010807070707" pitchFamily="18" charset="2"/>
              <a:buChar char="_"/>
            </a:pPr>
            <a:r>
              <a:rPr lang="fr-FR" sz="2000" dirty="0"/>
              <a:t>Script for </a:t>
            </a:r>
            <a:r>
              <a:rPr lang="fr-FR" sz="2000" dirty="0" err="1"/>
              <a:t>Femm</a:t>
            </a:r>
            <a:endParaRPr lang="fr-FR" sz="2000" dirty="0"/>
          </a:p>
          <a:p>
            <a:br>
              <a:rPr lang="fr-FR" sz="1000" dirty="0"/>
            </a:br>
            <a:r>
              <a:rPr lang="fr-FR" sz="1000" dirty="0" err="1"/>
              <a:t>openfemm</a:t>
            </a:r>
            <a:r>
              <a:rPr lang="fr-FR" sz="1000" dirty="0"/>
              <a:t>(1);</a:t>
            </a:r>
          </a:p>
          <a:p>
            <a:r>
              <a:rPr lang="fr-FR" sz="1000" dirty="0" err="1"/>
              <a:t>opendocument</a:t>
            </a:r>
            <a:r>
              <a:rPr lang="fr-FR" sz="1000" dirty="0"/>
              <a:t>('</a:t>
            </a:r>
            <a:r>
              <a:rPr lang="fr-FR" sz="1000" dirty="0" err="1"/>
              <a:t>MSRB_calcul.FEM</a:t>
            </a:r>
            <a:r>
              <a:rPr lang="fr-FR" sz="1000" dirty="0"/>
              <a:t>');</a:t>
            </a:r>
          </a:p>
          <a:p>
            <a:r>
              <a:rPr lang="fr-FR" sz="1000" dirty="0" err="1"/>
              <a:t>mi_saveas</a:t>
            </a:r>
            <a:r>
              <a:rPr lang="fr-FR" sz="1000" dirty="0"/>
              <a:t>('</a:t>
            </a:r>
            <a:r>
              <a:rPr lang="fr-FR" sz="1000" dirty="0" err="1"/>
              <a:t>temp.fem</a:t>
            </a:r>
            <a:r>
              <a:rPr lang="fr-FR" sz="1000" dirty="0"/>
              <a:t>');</a:t>
            </a:r>
          </a:p>
          <a:p>
            <a:endParaRPr lang="fr-FR" sz="1000" dirty="0"/>
          </a:p>
          <a:p>
            <a:r>
              <a:rPr lang="fr-FR" sz="1000" dirty="0"/>
              <a:t>angle=0;</a:t>
            </a:r>
          </a:p>
          <a:p>
            <a:r>
              <a:rPr lang="fr-FR" sz="1000" dirty="0"/>
              <a:t>pas=1;</a:t>
            </a:r>
          </a:p>
          <a:p>
            <a:r>
              <a:rPr lang="fr-FR" sz="1000" dirty="0"/>
              <a:t>alfa=27;</a:t>
            </a:r>
          </a:p>
          <a:p>
            <a:endParaRPr lang="fr-FR" sz="1000" dirty="0"/>
          </a:p>
          <a:p>
            <a:r>
              <a:rPr lang="fr-FR" sz="1000" dirty="0"/>
              <a:t>for k=1:1:180</a:t>
            </a:r>
          </a:p>
          <a:p>
            <a:r>
              <a:rPr lang="fr-FR" sz="1000" dirty="0"/>
              <a:t>	</a:t>
            </a:r>
            <a:r>
              <a:rPr lang="fr-FR" sz="1000" dirty="0" err="1"/>
              <a:t>mi_modifyboundprop</a:t>
            </a:r>
            <a:r>
              <a:rPr lang="fr-FR" sz="1000" dirty="0"/>
              <a:t>('move',10,angle);</a:t>
            </a:r>
          </a:p>
          <a:p>
            <a:r>
              <a:rPr lang="fr-FR" sz="1000" dirty="0"/>
              <a:t>	</a:t>
            </a:r>
          </a:p>
          <a:p>
            <a:r>
              <a:rPr lang="fr-FR" sz="1000" dirty="0"/>
              <a:t>	Ia= xxx;</a:t>
            </a:r>
          </a:p>
          <a:p>
            <a:r>
              <a:rPr lang="fr-FR" sz="1000" dirty="0"/>
              <a:t>	</a:t>
            </a:r>
            <a:r>
              <a:rPr lang="fr-FR" sz="1000" dirty="0" err="1"/>
              <a:t>Ib</a:t>
            </a:r>
            <a:r>
              <a:rPr lang="fr-FR" sz="1000" dirty="0"/>
              <a:t>=xxx;</a:t>
            </a:r>
          </a:p>
          <a:p>
            <a:r>
              <a:rPr lang="fr-FR" sz="1000" dirty="0"/>
              <a:t>	</a:t>
            </a:r>
            <a:r>
              <a:rPr lang="fr-FR" sz="1000" dirty="0" err="1"/>
              <a:t>Ic</a:t>
            </a:r>
            <a:r>
              <a:rPr lang="fr-FR" sz="1000" dirty="0"/>
              <a:t>=xxx;</a:t>
            </a:r>
            <a:br>
              <a:rPr lang="fr-FR" sz="1000" dirty="0"/>
            </a:br>
            <a:endParaRPr lang="fr-FR" sz="1000" dirty="0"/>
          </a:p>
          <a:p>
            <a:r>
              <a:rPr lang="fr-FR" sz="1000" dirty="0"/>
              <a:t>	</a:t>
            </a:r>
            <a:r>
              <a:rPr lang="fr-FR" sz="1000" dirty="0" err="1"/>
              <a:t>Irot</a:t>
            </a:r>
            <a:r>
              <a:rPr lang="fr-FR" sz="1000" dirty="0"/>
              <a:t>=4;</a:t>
            </a:r>
          </a:p>
          <a:p>
            <a:br>
              <a:rPr lang="fr-FR" sz="1000" dirty="0"/>
            </a:br>
            <a:r>
              <a:rPr lang="fr-FR" sz="1000" dirty="0"/>
              <a:t>	</a:t>
            </a:r>
            <a:r>
              <a:rPr lang="fr-FR" sz="1000" dirty="0" err="1"/>
              <a:t>mi_modifycircprop</a:t>
            </a:r>
            <a:r>
              <a:rPr lang="fr-FR" sz="1000" dirty="0"/>
              <a:t>('Ia',1,Ia);</a:t>
            </a:r>
          </a:p>
          <a:p>
            <a:pPr lvl="2"/>
            <a:r>
              <a:rPr lang="fr-FR" sz="1000" dirty="0" err="1"/>
              <a:t>mi_modifycircprop</a:t>
            </a:r>
            <a:r>
              <a:rPr lang="fr-FR" sz="1000" dirty="0"/>
              <a:t>('Ib',1,Ib);</a:t>
            </a:r>
          </a:p>
          <a:p>
            <a:pPr lvl="2"/>
            <a:r>
              <a:rPr lang="fr-FR" sz="1000" dirty="0" err="1"/>
              <a:t>mi_modifycircprop</a:t>
            </a:r>
            <a:r>
              <a:rPr lang="fr-FR" sz="1000" dirty="0"/>
              <a:t>('Ic',1,Ic);</a:t>
            </a:r>
          </a:p>
          <a:p>
            <a:r>
              <a:rPr lang="fr-FR" sz="1000" dirty="0"/>
              <a:t>	</a:t>
            </a:r>
            <a:r>
              <a:rPr lang="fr-FR" sz="1000" dirty="0" err="1"/>
              <a:t>mi_modifycircprop</a:t>
            </a:r>
            <a:r>
              <a:rPr lang="fr-FR" sz="1000" dirty="0"/>
              <a:t>('Irot',1,Irot);</a:t>
            </a:r>
          </a:p>
          <a:p>
            <a:br>
              <a:rPr lang="fr-FR" sz="1000" dirty="0"/>
            </a:br>
            <a:r>
              <a:rPr lang="fr-FR" sz="1000" dirty="0"/>
              <a:t>	</a:t>
            </a:r>
            <a:r>
              <a:rPr lang="fr-FR" sz="1000" dirty="0" err="1"/>
              <a:t>mi_analyze</a:t>
            </a:r>
            <a:r>
              <a:rPr lang="fr-FR" sz="1000" dirty="0"/>
              <a:t>(1);</a:t>
            </a:r>
          </a:p>
          <a:p>
            <a:pPr lvl="2"/>
            <a:r>
              <a:rPr lang="fr-FR" sz="1000" dirty="0" err="1"/>
              <a:t>mi_loadsolution</a:t>
            </a:r>
            <a:r>
              <a:rPr lang="fr-FR" sz="1000" dirty="0"/>
              <a:t>();</a:t>
            </a:r>
          </a:p>
          <a:p>
            <a:br>
              <a:rPr lang="fr-FR" sz="1000" dirty="0"/>
            </a:br>
            <a:r>
              <a:rPr lang="fr-FR" sz="1000" dirty="0"/>
              <a:t>	</a:t>
            </a:r>
            <a:r>
              <a:rPr lang="fr-FR" sz="1000" dirty="0" err="1"/>
              <a:t>mo_seteditmode</a:t>
            </a:r>
            <a:r>
              <a:rPr lang="fr-FR" sz="1000" dirty="0"/>
              <a:t>('area');</a:t>
            </a:r>
          </a:p>
          <a:p>
            <a:pPr lvl="2"/>
            <a:r>
              <a:rPr lang="fr-FR" sz="1000" dirty="0" err="1"/>
              <a:t>mo_groupselectblock</a:t>
            </a:r>
            <a:r>
              <a:rPr lang="fr-FR" sz="1000" dirty="0"/>
              <a:t>(2);</a:t>
            </a:r>
          </a:p>
          <a:p>
            <a:pPr lvl="2"/>
            <a:r>
              <a:rPr lang="fr-FR" sz="1000" dirty="0"/>
              <a:t>c=</a:t>
            </a:r>
            <a:r>
              <a:rPr lang="fr-FR" sz="1000" dirty="0" err="1"/>
              <a:t>mo_blockintegral</a:t>
            </a:r>
            <a:r>
              <a:rPr lang="fr-FR" sz="1000" dirty="0"/>
              <a:t>(22);</a:t>
            </a:r>
          </a:p>
          <a:p>
            <a:pPr lvl="2"/>
            <a:r>
              <a:rPr lang="fr-FR" sz="1000" dirty="0"/>
              <a:t>couple(k)=c;</a:t>
            </a:r>
          </a:p>
          <a:p>
            <a:pPr lvl="2"/>
            <a:r>
              <a:rPr lang="fr-FR" sz="1000" dirty="0" err="1"/>
              <a:t>mo_clearblock</a:t>
            </a:r>
            <a:r>
              <a:rPr lang="fr-FR" sz="1000" dirty="0"/>
              <a:t>();</a:t>
            </a:r>
          </a:p>
          <a:p>
            <a:br>
              <a:rPr lang="fr-FR" sz="1000" dirty="0"/>
            </a:br>
            <a:endParaRPr lang="fr-FR" sz="20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DC2B135-772F-5153-AFA4-9B884F3D3150}"/>
              </a:ext>
            </a:extLst>
          </p:cNvPr>
          <p:cNvSpPr txBox="1"/>
          <p:nvPr/>
        </p:nvSpPr>
        <p:spPr>
          <a:xfrm>
            <a:off x="6466136" y="1502802"/>
            <a:ext cx="523823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fr-FR" sz="1000" dirty="0" err="1"/>
              <a:t>res_bob</a:t>
            </a:r>
            <a:r>
              <a:rPr lang="fr-FR" sz="1000" dirty="0"/>
              <a:t>(1:3)=</a:t>
            </a:r>
            <a:r>
              <a:rPr lang="fr-FR" sz="1000" dirty="0" err="1"/>
              <a:t>mo_getcircuitproperties</a:t>
            </a:r>
            <a:r>
              <a:rPr lang="fr-FR" sz="1000" dirty="0"/>
              <a:t>('Ia');</a:t>
            </a:r>
          </a:p>
          <a:p>
            <a:pPr lvl="2"/>
            <a:r>
              <a:rPr lang="fr-FR" sz="1000" dirty="0"/>
              <a:t>flux(k,1)=</a:t>
            </a:r>
            <a:r>
              <a:rPr lang="fr-FR" sz="1000" dirty="0" err="1"/>
              <a:t>res_bob</a:t>
            </a:r>
            <a:r>
              <a:rPr lang="fr-FR" sz="1000" dirty="0"/>
              <a:t>(3);</a:t>
            </a:r>
          </a:p>
          <a:p>
            <a:pPr lvl="2"/>
            <a:br>
              <a:rPr lang="fr-FR" sz="1000" dirty="0"/>
            </a:br>
            <a:endParaRPr lang="fr-FR" sz="1000" dirty="0"/>
          </a:p>
          <a:p>
            <a:pPr lvl="2"/>
            <a:r>
              <a:rPr lang="fr-FR" sz="1000" dirty="0" err="1"/>
              <a:t>res_bob</a:t>
            </a:r>
            <a:r>
              <a:rPr lang="fr-FR" sz="1000" dirty="0"/>
              <a:t>(1:3)=</a:t>
            </a:r>
            <a:r>
              <a:rPr lang="fr-FR" sz="1000" dirty="0" err="1"/>
              <a:t>mo_getcircuitproperties</a:t>
            </a:r>
            <a:r>
              <a:rPr lang="fr-FR" sz="1000" dirty="0"/>
              <a:t>('</a:t>
            </a:r>
            <a:r>
              <a:rPr lang="fr-FR" sz="1000" dirty="0" err="1"/>
              <a:t>Ib</a:t>
            </a:r>
            <a:r>
              <a:rPr lang="fr-FR" sz="1000" dirty="0"/>
              <a:t>');</a:t>
            </a:r>
          </a:p>
          <a:p>
            <a:pPr lvl="2"/>
            <a:r>
              <a:rPr lang="fr-FR" sz="1000" dirty="0"/>
              <a:t>flux(k,2)=</a:t>
            </a:r>
            <a:r>
              <a:rPr lang="fr-FR" sz="1000" dirty="0" err="1"/>
              <a:t>res_bob</a:t>
            </a:r>
            <a:r>
              <a:rPr lang="fr-FR" sz="1000" dirty="0"/>
              <a:t>(3);</a:t>
            </a:r>
          </a:p>
          <a:p>
            <a:pPr lvl="2"/>
            <a:br>
              <a:rPr lang="fr-FR" sz="1000" dirty="0"/>
            </a:br>
            <a:endParaRPr lang="fr-FR" sz="1000" dirty="0"/>
          </a:p>
          <a:p>
            <a:pPr lvl="2"/>
            <a:r>
              <a:rPr lang="fr-FR" sz="1000" dirty="0" err="1"/>
              <a:t>res_bob</a:t>
            </a:r>
            <a:r>
              <a:rPr lang="fr-FR" sz="1000" dirty="0"/>
              <a:t>(1:3)=</a:t>
            </a:r>
            <a:r>
              <a:rPr lang="fr-FR" sz="1000" dirty="0" err="1"/>
              <a:t>mo_getcircuitproperties</a:t>
            </a:r>
            <a:r>
              <a:rPr lang="fr-FR" sz="1000" dirty="0"/>
              <a:t>('</a:t>
            </a:r>
            <a:r>
              <a:rPr lang="fr-FR" sz="1000" dirty="0" err="1"/>
              <a:t>Ic</a:t>
            </a:r>
            <a:r>
              <a:rPr lang="fr-FR" sz="1000" dirty="0"/>
              <a:t>');</a:t>
            </a:r>
          </a:p>
          <a:p>
            <a:pPr lvl="2"/>
            <a:r>
              <a:rPr lang="fr-FR" sz="1000" dirty="0"/>
              <a:t>flux(k,3)=</a:t>
            </a:r>
            <a:r>
              <a:rPr lang="fr-FR" sz="1000" dirty="0" err="1"/>
              <a:t>res_bob</a:t>
            </a:r>
            <a:r>
              <a:rPr lang="fr-FR" sz="1000" dirty="0"/>
              <a:t>(3);</a:t>
            </a:r>
          </a:p>
          <a:p>
            <a:pPr lvl="2"/>
            <a:br>
              <a:rPr lang="fr-FR" sz="1000" dirty="0"/>
            </a:br>
            <a:endParaRPr lang="fr-FR" sz="1000" dirty="0"/>
          </a:p>
          <a:p>
            <a:pPr lvl="2"/>
            <a:r>
              <a:rPr lang="fr-FR" sz="1000" dirty="0" err="1"/>
              <a:t>res_bob</a:t>
            </a:r>
            <a:r>
              <a:rPr lang="fr-FR" sz="1000" dirty="0"/>
              <a:t>(1:3)=</a:t>
            </a:r>
            <a:r>
              <a:rPr lang="fr-FR" sz="1000" dirty="0" err="1"/>
              <a:t>mo_getcircuitproperties</a:t>
            </a:r>
            <a:r>
              <a:rPr lang="fr-FR" sz="1000" dirty="0"/>
              <a:t>('</a:t>
            </a:r>
            <a:r>
              <a:rPr lang="fr-FR" sz="1000" dirty="0" err="1"/>
              <a:t>Irot</a:t>
            </a:r>
            <a:r>
              <a:rPr lang="fr-FR" sz="1000" dirty="0"/>
              <a:t>');</a:t>
            </a:r>
          </a:p>
          <a:p>
            <a:pPr lvl="2"/>
            <a:r>
              <a:rPr lang="fr-FR" sz="1000" dirty="0"/>
              <a:t>flux(k,4)=</a:t>
            </a:r>
            <a:r>
              <a:rPr lang="fr-FR" sz="1000" dirty="0" err="1"/>
              <a:t>res_bob</a:t>
            </a:r>
            <a:r>
              <a:rPr lang="fr-FR" sz="1000" dirty="0"/>
              <a:t>(3);</a:t>
            </a:r>
          </a:p>
          <a:p>
            <a:pPr lvl="2"/>
            <a:br>
              <a:rPr lang="fr-FR" sz="1000" dirty="0"/>
            </a:br>
            <a:endParaRPr lang="fr-FR" sz="1000" dirty="0"/>
          </a:p>
          <a:p>
            <a:pPr lvl="2"/>
            <a:r>
              <a:rPr lang="fr-FR" sz="1000" dirty="0" err="1"/>
              <a:t>mo_seteditmode</a:t>
            </a:r>
            <a:r>
              <a:rPr lang="fr-FR" sz="1000" dirty="0"/>
              <a:t>('area');</a:t>
            </a:r>
          </a:p>
          <a:p>
            <a:pPr lvl="2"/>
            <a:r>
              <a:rPr lang="fr-FR" sz="1000" dirty="0" err="1"/>
              <a:t>mo_groupselectblock</a:t>
            </a:r>
            <a:r>
              <a:rPr lang="fr-FR" sz="1000" dirty="0"/>
              <a:t>(2);</a:t>
            </a:r>
          </a:p>
          <a:p>
            <a:pPr lvl="2"/>
            <a:r>
              <a:rPr lang="fr-FR" sz="1000" dirty="0" err="1"/>
              <a:t>mo_groupselectblock</a:t>
            </a:r>
            <a:r>
              <a:rPr lang="fr-FR" sz="1000" dirty="0"/>
              <a:t>(0);</a:t>
            </a:r>
          </a:p>
          <a:p>
            <a:r>
              <a:rPr lang="fr-FR" sz="1000" dirty="0"/>
              <a:t>	</a:t>
            </a:r>
            <a:r>
              <a:rPr lang="fr-FR" sz="1000" dirty="0" err="1"/>
              <a:t>mo_close</a:t>
            </a:r>
            <a:r>
              <a:rPr lang="fr-FR" sz="1000" dirty="0"/>
              <a:t>;</a:t>
            </a:r>
          </a:p>
          <a:p>
            <a:br>
              <a:rPr lang="fr-FR" sz="1000" dirty="0"/>
            </a:br>
            <a:endParaRPr lang="fr-FR" sz="1000" dirty="0"/>
          </a:p>
          <a:p>
            <a:r>
              <a:rPr lang="fr-FR" sz="1000" dirty="0"/>
              <a:t>	angle=</a:t>
            </a:r>
            <a:r>
              <a:rPr lang="fr-FR" sz="1000" dirty="0" err="1"/>
              <a:t>angle+pas</a:t>
            </a:r>
            <a:r>
              <a:rPr lang="fr-FR" sz="1000" dirty="0"/>
              <a:t>;</a:t>
            </a:r>
          </a:p>
          <a:p>
            <a:r>
              <a:rPr lang="fr-FR" sz="1000" dirty="0"/>
              <a:t>	position(k)=angle;</a:t>
            </a:r>
          </a:p>
          <a:p>
            <a:r>
              <a:rPr lang="fr-FR" sz="1000" dirty="0"/>
              <a:t>end</a:t>
            </a:r>
          </a:p>
          <a:p>
            <a:r>
              <a:rPr lang="fr-FR" sz="1000" dirty="0" err="1"/>
              <a:t>mi_close</a:t>
            </a:r>
            <a:r>
              <a:rPr lang="fr-FR" sz="1000" dirty="0"/>
              <a:t>;</a:t>
            </a:r>
          </a:p>
          <a:p>
            <a:br>
              <a:rPr lang="fr-FR" sz="1000" dirty="0"/>
            </a:br>
            <a:endParaRPr lang="fr-FR" sz="1000" dirty="0"/>
          </a:p>
          <a:p>
            <a:r>
              <a:rPr lang="fr-FR" sz="1000" dirty="0" err="1"/>
              <a:t>closefemm</a:t>
            </a:r>
            <a:r>
              <a:rPr lang="fr-FR" sz="1000" dirty="0"/>
              <a:t>;</a:t>
            </a:r>
          </a:p>
          <a:p>
            <a:r>
              <a:rPr lang="fr-FR" sz="1000" dirty="0" err="1"/>
              <a:t>couple_moy</a:t>
            </a:r>
            <a:r>
              <a:rPr lang="fr-FR" sz="1000" dirty="0"/>
              <a:t>=</a:t>
            </a:r>
            <a:r>
              <a:rPr lang="fr-FR" sz="1000" dirty="0" err="1"/>
              <a:t>mean</a:t>
            </a:r>
            <a:r>
              <a:rPr lang="fr-FR" sz="1000" dirty="0"/>
              <a:t>(couple);</a:t>
            </a:r>
          </a:p>
        </p:txBody>
      </p:sp>
    </p:spTree>
    <p:extLst>
      <p:ext uri="{BB962C8B-B14F-4D97-AF65-F5344CB8AC3E}">
        <p14:creationId xmlns:p14="http://schemas.microsoft.com/office/powerpoint/2010/main" val="479310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AAB5E-4B16-7C55-0ABB-FBB31DD6C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36D6833-24B1-66ED-1982-A9324B043E15}"/>
              </a:ext>
            </a:extLst>
          </p:cNvPr>
          <p:cNvCxnSpPr>
            <a:cxnSpLocks/>
          </p:cNvCxnSpPr>
          <p:nvPr/>
        </p:nvCxnSpPr>
        <p:spPr>
          <a:xfrm>
            <a:off x="433459" y="579473"/>
            <a:ext cx="6782830" cy="0"/>
          </a:xfrm>
          <a:prstGeom prst="line">
            <a:avLst/>
          </a:prstGeom>
          <a:ln>
            <a:solidFill>
              <a:srgbClr val="6C0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3443C9F8-1456-AC92-B6F6-52B2DB92B0B4}"/>
              </a:ext>
            </a:extLst>
          </p:cNvPr>
          <p:cNvSpPr txBox="1"/>
          <p:nvPr/>
        </p:nvSpPr>
        <p:spPr>
          <a:xfrm>
            <a:off x="10523839" y="6372307"/>
            <a:ext cx="166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2026-2027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EDD7F4D-8455-873E-D92F-17B8E1D4C815}"/>
              </a:ext>
            </a:extLst>
          </p:cNvPr>
          <p:cNvSpPr txBox="1"/>
          <p:nvPr/>
        </p:nvSpPr>
        <p:spPr>
          <a:xfrm>
            <a:off x="370703" y="117808"/>
            <a:ext cx="759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C0042"/>
                </a:solidFill>
              </a:rPr>
              <a:t>Study of a </a:t>
            </a:r>
            <a:r>
              <a:rPr lang="fr-FR" sz="2400" dirty="0" err="1">
                <a:solidFill>
                  <a:srgbClr val="6C0042"/>
                </a:solidFill>
              </a:rPr>
              <a:t>synchronous</a:t>
            </a:r>
            <a:r>
              <a:rPr lang="fr-FR" sz="2400" dirty="0">
                <a:solidFill>
                  <a:srgbClr val="6C0042"/>
                </a:solidFill>
              </a:rPr>
              <a:t> </a:t>
            </a:r>
            <a:r>
              <a:rPr lang="fr-FR" sz="2400" dirty="0" err="1">
                <a:solidFill>
                  <a:srgbClr val="6C0042"/>
                </a:solidFill>
              </a:rPr>
              <a:t>motor</a:t>
            </a:r>
            <a:r>
              <a:rPr lang="fr-FR" sz="2400" dirty="0">
                <a:solidFill>
                  <a:srgbClr val="6C0042"/>
                </a:solidFill>
              </a:rPr>
              <a:t> </a:t>
            </a:r>
            <a:r>
              <a:rPr lang="fr-FR" sz="2400" dirty="0" err="1">
                <a:solidFill>
                  <a:srgbClr val="6C0042"/>
                </a:solidFill>
              </a:rPr>
              <a:t>with</a:t>
            </a:r>
            <a:r>
              <a:rPr lang="fr-FR" sz="2400" dirty="0">
                <a:solidFill>
                  <a:srgbClr val="6C0042"/>
                </a:solidFill>
              </a:rPr>
              <a:t> a </a:t>
            </a:r>
            <a:r>
              <a:rPr lang="fr-FR" sz="2400" dirty="0" err="1">
                <a:solidFill>
                  <a:srgbClr val="6C0042"/>
                </a:solidFill>
              </a:rPr>
              <a:t>wound</a:t>
            </a:r>
            <a:r>
              <a:rPr lang="fr-FR" sz="2400" dirty="0">
                <a:solidFill>
                  <a:srgbClr val="6C0042"/>
                </a:solidFill>
              </a:rPr>
              <a:t> rotor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5BE345A-918D-99EF-9DE1-522D5A8CEF25}"/>
              </a:ext>
            </a:extLst>
          </p:cNvPr>
          <p:cNvSpPr txBox="1"/>
          <p:nvPr/>
        </p:nvSpPr>
        <p:spPr>
          <a:xfrm>
            <a:off x="602129" y="1041138"/>
            <a:ext cx="10987741" cy="2664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 3" panose="05040102010807070707" pitchFamily="18" charset="2"/>
              <a:buChar char="_"/>
            </a:pPr>
            <a:r>
              <a:rPr lang="en-US" sz="2000" noProof="0" dirty="0"/>
              <a:t>Self and mutual inductances :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000" noProof="0" dirty="0"/>
              <a:t>Impose </a:t>
            </a:r>
            <a:r>
              <a:rPr lang="en-US" sz="2000" noProof="0" dirty="0" err="1"/>
              <a:t>I</a:t>
            </a:r>
            <a:r>
              <a:rPr lang="en-US" sz="2000" baseline="-25000" noProof="0" dirty="0" err="1"/>
              <a:t>r</a:t>
            </a:r>
            <a:r>
              <a:rPr lang="en-US" sz="2000" baseline="-25000" noProof="0" dirty="0"/>
              <a:t> </a:t>
            </a:r>
            <a:r>
              <a:rPr lang="en-US" sz="2000" noProof="0" dirty="0"/>
              <a:t>= 0 A and I</a:t>
            </a:r>
            <a:r>
              <a:rPr lang="en-US" sz="2000" baseline="-25000" noProof="0" dirty="0"/>
              <a:t>A </a:t>
            </a:r>
            <a:r>
              <a:rPr lang="en-US" sz="2000" noProof="0" dirty="0"/>
              <a:t>= 1 A , then compute all the flux linkages and deduce inductances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000" noProof="0" dirty="0"/>
              <a:t>Comment the curves computed in terms of amplitudes, average values, and period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000" dirty="0"/>
              <a:t>Impose </a:t>
            </a:r>
            <a:r>
              <a:rPr lang="en-US" sz="2000" dirty="0" err="1"/>
              <a:t>I</a:t>
            </a:r>
            <a:r>
              <a:rPr lang="en-US" sz="2000" baseline="-25000" dirty="0" err="1"/>
              <a:t>r</a:t>
            </a:r>
            <a:r>
              <a:rPr lang="en-US" sz="2000" baseline="-25000" dirty="0"/>
              <a:t> </a:t>
            </a:r>
            <a:r>
              <a:rPr lang="en-US" sz="2000" dirty="0"/>
              <a:t>= 1 A and I</a:t>
            </a:r>
            <a:r>
              <a:rPr lang="en-US" sz="2000" baseline="-25000" dirty="0"/>
              <a:t>A </a:t>
            </a:r>
            <a:r>
              <a:rPr lang="en-US" sz="2000" dirty="0"/>
              <a:t>= 0 A , then compute all the flux linkages and deduce inductances</a:t>
            </a:r>
            <a:endParaRPr lang="en-US" sz="2000" noProof="0" dirty="0"/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000" noProof="0" dirty="0"/>
              <a:t>Assuming sinusoidal variations of the inductances, give their expressions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000" noProof="0" dirty="0"/>
              <a:t>Comment the two following variables : </a:t>
            </a:r>
            <a:r>
              <a:rPr lang="en-US" sz="2000" dirty="0"/>
              <a:t>“mechanical angle” and </a:t>
            </a:r>
            <a:r>
              <a:rPr lang="en-US" sz="2000" noProof="0" dirty="0"/>
              <a:t>“electrical angle” </a:t>
            </a:r>
          </a:p>
        </p:txBody>
      </p:sp>
    </p:spTree>
    <p:extLst>
      <p:ext uri="{BB962C8B-B14F-4D97-AF65-F5344CB8AC3E}">
        <p14:creationId xmlns:p14="http://schemas.microsoft.com/office/powerpoint/2010/main" val="1687806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0D0A7-0B12-DBE5-47EA-324FDD973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9EC5A921-6DEA-B5A1-B9CF-4CCA15C36947}"/>
              </a:ext>
            </a:extLst>
          </p:cNvPr>
          <p:cNvCxnSpPr>
            <a:cxnSpLocks/>
          </p:cNvCxnSpPr>
          <p:nvPr/>
        </p:nvCxnSpPr>
        <p:spPr>
          <a:xfrm>
            <a:off x="433459" y="579473"/>
            <a:ext cx="6782830" cy="0"/>
          </a:xfrm>
          <a:prstGeom prst="line">
            <a:avLst/>
          </a:prstGeom>
          <a:ln>
            <a:solidFill>
              <a:srgbClr val="6C0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26F17D03-59FC-57A8-360C-9D527FEF467A}"/>
              </a:ext>
            </a:extLst>
          </p:cNvPr>
          <p:cNvSpPr txBox="1"/>
          <p:nvPr/>
        </p:nvSpPr>
        <p:spPr>
          <a:xfrm>
            <a:off x="10523839" y="6372307"/>
            <a:ext cx="166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2026-2027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5CA6B9D-958A-8E90-E9C3-832C3BC6AD73}"/>
              </a:ext>
            </a:extLst>
          </p:cNvPr>
          <p:cNvSpPr txBox="1"/>
          <p:nvPr/>
        </p:nvSpPr>
        <p:spPr>
          <a:xfrm>
            <a:off x="370703" y="117808"/>
            <a:ext cx="759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C0042"/>
                </a:solidFill>
              </a:rPr>
              <a:t>Study of a </a:t>
            </a:r>
            <a:r>
              <a:rPr lang="fr-FR" sz="2400" dirty="0" err="1">
                <a:solidFill>
                  <a:srgbClr val="6C0042"/>
                </a:solidFill>
              </a:rPr>
              <a:t>synchronous</a:t>
            </a:r>
            <a:r>
              <a:rPr lang="fr-FR" sz="2400" dirty="0">
                <a:solidFill>
                  <a:srgbClr val="6C0042"/>
                </a:solidFill>
              </a:rPr>
              <a:t> </a:t>
            </a:r>
            <a:r>
              <a:rPr lang="fr-FR" sz="2400" dirty="0" err="1">
                <a:solidFill>
                  <a:srgbClr val="6C0042"/>
                </a:solidFill>
              </a:rPr>
              <a:t>motor</a:t>
            </a:r>
            <a:r>
              <a:rPr lang="fr-FR" sz="2400" dirty="0">
                <a:solidFill>
                  <a:srgbClr val="6C0042"/>
                </a:solidFill>
              </a:rPr>
              <a:t> </a:t>
            </a:r>
            <a:r>
              <a:rPr lang="fr-FR" sz="2400" dirty="0" err="1">
                <a:solidFill>
                  <a:srgbClr val="6C0042"/>
                </a:solidFill>
              </a:rPr>
              <a:t>with</a:t>
            </a:r>
            <a:r>
              <a:rPr lang="fr-FR" sz="2400" dirty="0">
                <a:solidFill>
                  <a:srgbClr val="6C0042"/>
                </a:solidFill>
              </a:rPr>
              <a:t> a </a:t>
            </a:r>
            <a:r>
              <a:rPr lang="fr-FR" sz="2400" dirty="0" err="1">
                <a:solidFill>
                  <a:srgbClr val="6C0042"/>
                </a:solidFill>
              </a:rPr>
              <a:t>wound</a:t>
            </a:r>
            <a:r>
              <a:rPr lang="fr-FR" sz="2400" dirty="0">
                <a:solidFill>
                  <a:srgbClr val="6C0042"/>
                </a:solidFill>
              </a:rPr>
              <a:t> rotor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D7C38DD-EB68-24AD-2DBA-7C039CDB7412}"/>
              </a:ext>
            </a:extLst>
          </p:cNvPr>
          <p:cNvSpPr txBox="1"/>
          <p:nvPr/>
        </p:nvSpPr>
        <p:spPr>
          <a:xfrm>
            <a:off x="602129" y="1041138"/>
            <a:ext cx="10987741" cy="543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 3" panose="05040102010807070707" pitchFamily="18" charset="2"/>
              <a:buChar char="_"/>
            </a:pPr>
            <a:r>
              <a:rPr lang="en-US" sz="2000" dirty="0"/>
              <a:t>Flux </a:t>
            </a:r>
            <a:r>
              <a:rPr lang="en-US" sz="2000" noProof="0" dirty="0"/>
              <a:t>: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000" dirty="0"/>
              <a:t>Give the expressions of the fluxes Φ</a:t>
            </a:r>
            <a:r>
              <a:rPr lang="en-US" sz="2000" baseline="-25000" dirty="0"/>
              <a:t>A</a:t>
            </a:r>
            <a:r>
              <a:rPr lang="en-US" sz="2000" dirty="0"/>
              <a:t>, Φ</a:t>
            </a:r>
            <a:r>
              <a:rPr lang="en-US" sz="2000" baseline="-25000" dirty="0"/>
              <a:t>B</a:t>
            </a:r>
            <a:r>
              <a:rPr lang="en-US" sz="2000" dirty="0"/>
              <a:t>, Φ</a:t>
            </a:r>
            <a:r>
              <a:rPr lang="en-US" sz="2000" baseline="-25000" dirty="0"/>
              <a:t>C</a:t>
            </a:r>
            <a:r>
              <a:rPr lang="en-US" sz="2000" dirty="0"/>
              <a:t>, </a:t>
            </a:r>
            <a:r>
              <a:rPr lang="en-US" sz="2000" baseline="-25000" dirty="0"/>
              <a:t> </a:t>
            </a:r>
            <a:r>
              <a:rPr lang="en-US" sz="2000" dirty="0"/>
              <a:t>Φ</a:t>
            </a:r>
            <a:r>
              <a:rPr lang="en-US" sz="2000" baseline="-25000" dirty="0"/>
              <a:t>R</a:t>
            </a:r>
            <a:r>
              <a:rPr lang="en-US" sz="2000" dirty="0"/>
              <a:t> depending on self and mutual inductances and also currents.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endParaRPr lang="en-US" sz="2000" dirty="0"/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endParaRPr lang="en-US" sz="2000" dirty="0"/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endParaRPr lang="en-US" sz="2000" dirty="0"/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endParaRPr lang="en-US" sz="2000" dirty="0"/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endParaRPr lang="en-US" sz="2000" dirty="0"/>
          </a:p>
          <a:p>
            <a:pPr marL="342900" indent="-342900">
              <a:lnSpc>
                <a:spcPct val="150000"/>
              </a:lnSpc>
              <a:buFont typeface="Wingdings 3" panose="05040102010807070707" pitchFamily="18" charset="2"/>
              <a:buChar char="_"/>
            </a:pPr>
            <a:r>
              <a:rPr lang="en-US" sz="2000" dirty="0"/>
              <a:t>Magnetic energy and torque :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000" dirty="0"/>
              <a:t>Give the expression of the magnetic energy depending on self and mutual inductances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000" dirty="0"/>
              <a:t>Give the four components of the torque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endParaRPr lang="en-US" sz="2000" dirty="0"/>
          </a:p>
        </p:txBody>
      </p:sp>
      <p:grpSp>
        <p:nvGrpSpPr>
          <p:cNvPr id="2" name="Zone de dessin 23">
            <a:extLst>
              <a:ext uri="{FF2B5EF4-FFF2-40B4-BE49-F238E27FC236}">
                <a16:creationId xmlns:a16="http://schemas.microsoft.com/office/drawing/2014/main" id="{781B3137-12D9-F98E-EF69-A7D901F28C01}"/>
              </a:ext>
            </a:extLst>
          </p:cNvPr>
          <p:cNvGrpSpPr/>
          <p:nvPr/>
        </p:nvGrpSpPr>
        <p:grpSpPr>
          <a:xfrm>
            <a:off x="3824874" y="1900692"/>
            <a:ext cx="5486400" cy="2757805"/>
            <a:chOff x="0" y="0"/>
            <a:chExt cx="5486400" cy="275780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3BE6B82-AB39-B440-99B6-376D198987A7}"/>
                </a:ext>
              </a:extLst>
            </p:cNvPr>
            <p:cNvSpPr/>
            <p:nvPr/>
          </p:nvSpPr>
          <p:spPr>
            <a:xfrm>
              <a:off x="0" y="0"/>
              <a:ext cx="5486400" cy="2757805"/>
            </a:xfrm>
            <a:prstGeom prst="rect">
              <a:avLst/>
            </a:prstGeom>
          </p:spPr>
          <p:txBody>
            <a:bodyPr/>
            <a:lstStyle/>
            <a:p>
              <a:endParaRPr lang="fr-FR"/>
            </a:p>
          </p:txBody>
        </p:sp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17D3B5F2-3BCA-FE21-1D71-276885278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1258" y="219453"/>
              <a:ext cx="3280156" cy="2375492"/>
            </a:xfrm>
            <a:prstGeom prst="rect">
              <a:avLst/>
            </a:prstGeom>
          </p:spPr>
        </p:pic>
        <p:sp>
          <p:nvSpPr>
            <p:cNvPr id="6" name="Arc 5">
              <a:extLst>
                <a:ext uri="{FF2B5EF4-FFF2-40B4-BE49-F238E27FC236}">
                  <a16:creationId xmlns:a16="http://schemas.microsoft.com/office/drawing/2014/main" id="{90C8C0EA-A30B-5DE9-B7C9-F09E9915DAB3}"/>
                </a:ext>
              </a:extLst>
            </p:cNvPr>
            <p:cNvSpPr/>
            <p:nvPr/>
          </p:nvSpPr>
          <p:spPr>
            <a:xfrm rot="796832">
              <a:off x="2294314" y="519767"/>
              <a:ext cx="481224" cy="597905"/>
            </a:xfrm>
            <a:prstGeom prst="arc">
              <a:avLst>
                <a:gd name="adj1" fmla="val 16200000"/>
                <a:gd name="adj2" fmla="val 3889591"/>
              </a:avLst>
            </a:prstGeom>
            <a:ln w="3175">
              <a:solidFill>
                <a:schemeClr val="tx1"/>
              </a:solidFill>
              <a:prstDash val="dash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2DCAF691-76F4-38CF-7152-2040C98FBBD3}"/>
                </a:ext>
              </a:extLst>
            </p:cNvPr>
            <p:cNvSpPr/>
            <p:nvPr/>
          </p:nvSpPr>
          <p:spPr>
            <a:xfrm rot="1061642">
              <a:off x="2318225" y="1306091"/>
              <a:ext cx="480695" cy="597535"/>
            </a:xfrm>
            <a:prstGeom prst="arc">
              <a:avLst>
                <a:gd name="adj1" fmla="val 16200000"/>
                <a:gd name="adj2" fmla="val 3889591"/>
              </a:avLst>
            </a:prstGeom>
            <a:ln w="3175">
              <a:solidFill>
                <a:schemeClr val="tx1"/>
              </a:solidFill>
              <a:prstDash val="dash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558DD420-E443-4CCC-D673-64DFEE1894AF}"/>
                </a:ext>
              </a:extLst>
            </p:cNvPr>
            <p:cNvSpPr/>
            <p:nvPr/>
          </p:nvSpPr>
          <p:spPr>
            <a:xfrm flipH="1">
              <a:off x="1919536" y="449933"/>
              <a:ext cx="509513" cy="1388883"/>
            </a:xfrm>
            <a:prstGeom prst="arc">
              <a:avLst>
                <a:gd name="adj1" fmla="val 16200000"/>
                <a:gd name="adj2" fmla="val 5285305"/>
              </a:avLst>
            </a:prstGeom>
            <a:ln w="3175">
              <a:solidFill>
                <a:schemeClr val="tx1"/>
              </a:solidFill>
              <a:prstDash val="dash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2" name="Zone de texte 22">
              <a:extLst>
                <a:ext uri="{FF2B5EF4-FFF2-40B4-BE49-F238E27FC236}">
                  <a16:creationId xmlns:a16="http://schemas.microsoft.com/office/drawing/2014/main" id="{79B0BB8A-A0B0-B02D-291C-55305DF522EA}"/>
                </a:ext>
              </a:extLst>
            </p:cNvPr>
            <p:cNvSpPr txBox="1"/>
            <p:nvPr/>
          </p:nvSpPr>
          <p:spPr>
            <a:xfrm>
              <a:off x="1514533" y="677652"/>
              <a:ext cx="466090" cy="38100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M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AC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3" name="Zone de texte 22">
              <a:extLst>
                <a:ext uri="{FF2B5EF4-FFF2-40B4-BE49-F238E27FC236}">
                  <a16:creationId xmlns:a16="http://schemas.microsoft.com/office/drawing/2014/main" id="{49B1BB15-B9D3-73A9-D74B-04EF75DE6F19}"/>
                </a:ext>
              </a:extLst>
            </p:cNvPr>
            <p:cNvSpPr txBox="1"/>
            <p:nvPr/>
          </p:nvSpPr>
          <p:spPr>
            <a:xfrm>
              <a:off x="2325061" y="561445"/>
              <a:ext cx="466090" cy="38100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M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AB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4" name="Zone de texte 22">
              <a:extLst>
                <a:ext uri="{FF2B5EF4-FFF2-40B4-BE49-F238E27FC236}">
                  <a16:creationId xmlns:a16="http://schemas.microsoft.com/office/drawing/2014/main" id="{37469AE3-2E71-6D26-2899-31B605A98EEA}"/>
                </a:ext>
              </a:extLst>
            </p:cNvPr>
            <p:cNvSpPr txBox="1"/>
            <p:nvPr/>
          </p:nvSpPr>
          <p:spPr>
            <a:xfrm>
              <a:off x="2341890" y="1305916"/>
              <a:ext cx="460375" cy="38100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M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BC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5" name="Zone de texte 22">
              <a:extLst>
                <a:ext uri="{FF2B5EF4-FFF2-40B4-BE49-F238E27FC236}">
                  <a16:creationId xmlns:a16="http://schemas.microsoft.com/office/drawing/2014/main" id="{8308F85A-E54B-261C-261E-B1F2880034FE}"/>
                </a:ext>
              </a:extLst>
            </p:cNvPr>
            <p:cNvSpPr txBox="1"/>
            <p:nvPr/>
          </p:nvSpPr>
          <p:spPr>
            <a:xfrm>
              <a:off x="2232074" y="6853"/>
              <a:ext cx="356235" cy="38100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 dirty="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L</a:t>
              </a:r>
              <a:r>
                <a:rPr lang="fr-FR" sz="1200" baseline="-25000" dirty="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A</a:t>
              </a:r>
              <a:endParaRPr lang="fr-F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6" name="Zone de texte 22">
              <a:extLst>
                <a:ext uri="{FF2B5EF4-FFF2-40B4-BE49-F238E27FC236}">
                  <a16:creationId xmlns:a16="http://schemas.microsoft.com/office/drawing/2014/main" id="{1888712B-17F2-BD34-7654-CA548A16FCA5}"/>
                </a:ext>
              </a:extLst>
            </p:cNvPr>
            <p:cNvSpPr txBox="1"/>
            <p:nvPr/>
          </p:nvSpPr>
          <p:spPr>
            <a:xfrm>
              <a:off x="2202762" y="809862"/>
              <a:ext cx="350520" cy="38100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L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B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7" name="Zone de texte 22">
              <a:extLst>
                <a:ext uri="{FF2B5EF4-FFF2-40B4-BE49-F238E27FC236}">
                  <a16:creationId xmlns:a16="http://schemas.microsoft.com/office/drawing/2014/main" id="{843A4037-63A3-7BF1-4CA7-58415B31DF97}"/>
                </a:ext>
              </a:extLst>
            </p:cNvPr>
            <p:cNvSpPr txBox="1"/>
            <p:nvPr/>
          </p:nvSpPr>
          <p:spPr>
            <a:xfrm>
              <a:off x="2234614" y="1613015"/>
              <a:ext cx="350520" cy="38100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L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C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8" name="Zone de texte 22">
              <a:extLst>
                <a:ext uri="{FF2B5EF4-FFF2-40B4-BE49-F238E27FC236}">
                  <a16:creationId xmlns:a16="http://schemas.microsoft.com/office/drawing/2014/main" id="{86E92FD4-0362-8498-FAE3-E0D2E2A37D27}"/>
                </a:ext>
              </a:extLst>
            </p:cNvPr>
            <p:cNvSpPr txBox="1"/>
            <p:nvPr/>
          </p:nvSpPr>
          <p:spPr>
            <a:xfrm>
              <a:off x="3699487" y="837225"/>
              <a:ext cx="350520" cy="38100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L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R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BD42BAC6-F887-E003-659D-3488AD0D26B2}"/>
                </a:ext>
              </a:extLst>
            </p:cNvPr>
            <p:cNvSpPr/>
            <p:nvPr/>
          </p:nvSpPr>
          <p:spPr>
            <a:xfrm rot="19791971">
              <a:off x="2709455" y="153134"/>
              <a:ext cx="779704" cy="1140828"/>
            </a:xfrm>
            <a:prstGeom prst="arc">
              <a:avLst>
                <a:gd name="adj1" fmla="val 15664811"/>
                <a:gd name="adj2" fmla="val 3889591"/>
              </a:avLst>
            </a:prstGeom>
            <a:ln w="9525">
              <a:solidFill>
                <a:schemeClr val="tx1"/>
              </a:solidFill>
              <a:prstDash val="lgDashDot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20" name="Zone de texte 22">
              <a:extLst>
                <a:ext uri="{FF2B5EF4-FFF2-40B4-BE49-F238E27FC236}">
                  <a16:creationId xmlns:a16="http://schemas.microsoft.com/office/drawing/2014/main" id="{920F83D5-EBB2-012B-41EC-AC1BE0FE945A}"/>
                </a:ext>
              </a:extLst>
            </p:cNvPr>
            <p:cNvSpPr txBox="1"/>
            <p:nvPr/>
          </p:nvSpPr>
          <p:spPr>
            <a:xfrm>
              <a:off x="3270863" y="165713"/>
              <a:ext cx="466090" cy="38100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M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AR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3EFF3B99-59C2-20A9-0E82-E908173D7BE9}"/>
                </a:ext>
              </a:extLst>
            </p:cNvPr>
            <p:cNvSpPr/>
            <p:nvPr/>
          </p:nvSpPr>
          <p:spPr>
            <a:xfrm rot="14485028" flipH="1">
              <a:off x="2718708" y="1090220"/>
              <a:ext cx="901900" cy="1247717"/>
            </a:xfrm>
            <a:prstGeom prst="arc">
              <a:avLst>
                <a:gd name="adj1" fmla="val 16266874"/>
                <a:gd name="adj2" fmla="val 5628696"/>
              </a:avLst>
            </a:prstGeom>
            <a:ln w="9525">
              <a:solidFill>
                <a:schemeClr val="tx1"/>
              </a:solidFill>
              <a:prstDash val="lgDashDot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22" name="Zone de texte 22">
              <a:extLst>
                <a:ext uri="{FF2B5EF4-FFF2-40B4-BE49-F238E27FC236}">
                  <a16:creationId xmlns:a16="http://schemas.microsoft.com/office/drawing/2014/main" id="{EA45474F-6831-D717-6ECE-41427B6E2569}"/>
                </a:ext>
              </a:extLst>
            </p:cNvPr>
            <p:cNvSpPr txBox="1"/>
            <p:nvPr/>
          </p:nvSpPr>
          <p:spPr>
            <a:xfrm>
              <a:off x="3124559" y="1725404"/>
              <a:ext cx="460375" cy="38100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M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CR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1D94802B-51D0-D276-B030-10451CC663D5}"/>
                </a:ext>
              </a:extLst>
            </p:cNvPr>
            <p:cNvSpPr/>
            <p:nvPr/>
          </p:nvSpPr>
          <p:spPr>
            <a:xfrm rot="16859157">
              <a:off x="2965147" y="775723"/>
              <a:ext cx="200987" cy="734337"/>
            </a:xfrm>
            <a:prstGeom prst="arc">
              <a:avLst>
                <a:gd name="adj1" fmla="val 16029345"/>
                <a:gd name="adj2" fmla="val 4874503"/>
              </a:avLst>
            </a:prstGeom>
            <a:ln w="9525">
              <a:solidFill>
                <a:schemeClr val="tx1"/>
              </a:solidFill>
              <a:prstDash val="lgDashDot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24" name="Zone de texte 22">
              <a:extLst>
                <a:ext uri="{FF2B5EF4-FFF2-40B4-BE49-F238E27FC236}">
                  <a16:creationId xmlns:a16="http://schemas.microsoft.com/office/drawing/2014/main" id="{E1F8C03C-75EC-5373-BBD2-7BCDE3827344}"/>
                </a:ext>
              </a:extLst>
            </p:cNvPr>
            <p:cNvSpPr txBox="1"/>
            <p:nvPr/>
          </p:nvSpPr>
          <p:spPr>
            <a:xfrm>
              <a:off x="2927963" y="746737"/>
              <a:ext cx="460375" cy="38100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M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BR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5" name="Connecteur droit avec flèche 24">
              <a:extLst>
                <a:ext uri="{FF2B5EF4-FFF2-40B4-BE49-F238E27FC236}">
                  <a16:creationId xmlns:a16="http://schemas.microsoft.com/office/drawing/2014/main" id="{2296DF08-CA82-7642-C6B8-652AA414DC3E}"/>
                </a:ext>
              </a:extLst>
            </p:cNvPr>
            <p:cNvCxnSpPr/>
            <p:nvPr/>
          </p:nvCxnSpPr>
          <p:spPr>
            <a:xfrm flipH="1" flipV="1">
              <a:off x="879895" y="482496"/>
              <a:ext cx="0" cy="201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avec flèche 25">
              <a:extLst>
                <a:ext uri="{FF2B5EF4-FFF2-40B4-BE49-F238E27FC236}">
                  <a16:creationId xmlns:a16="http://schemas.microsoft.com/office/drawing/2014/main" id="{AEF07699-50C3-765A-08DC-3E7F36BE2832}"/>
                </a:ext>
              </a:extLst>
            </p:cNvPr>
            <p:cNvCxnSpPr/>
            <p:nvPr/>
          </p:nvCxnSpPr>
          <p:spPr>
            <a:xfrm flipV="1">
              <a:off x="1233109" y="1238247"/>
              <a:ext cx="0" cy="12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avec flèche 26">
              <a:extLst>
                <a:ext uri="{FF2B5EF4-FFF2-40B4-BE49-F238E27FC236}">
                  <a16:creationId xmlns:a16="http://schemas.microsoft.com/office/drawing/2014/main" id="{5012481D-1007-9D57-ADD5-7E4DE171A35D}"/>
                </a:ext>
              </a:extLst>
            </p:cNvPr>
            <p:cNvCxnSpPr/>
            <p:nvPr/>
          </p:nvCxnSpPr>
          <p:spPr>
            <a:xfrm flipV="1">
              <a:off x="1566154" y="2030242"/>
              <a:ext cx="0" cy="468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Zone de texte 22">
              <a:extLst>
                <a:ext uri="{FF2B5EF4-FFF2-40B4-BE49-F238E27FC236}">
                  <a16:creationId xmlns:a16="http://schemas.microsoft.com/office/drawing/2014/main" id="{41FECB45-ED6E-641B-5577-C365C1D341BF}"/>
                </a:ext>
              </a:extLst>
            </p:cNvPr>
            <p:cNvSpPr txBox="1"/>
            <p:nvPr/>
          </p:nvSpPr>
          <p:spPr>
            <a:xfrm>
              <a:off x="604282" y="1190788"/>
              <a:ext cx="339090" cy="38036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A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9" name="Zone de texte 22">
              <a:extLst>
                <a:ext uri="{FF2B5EF4-FFF2-40B4-BE49-F238E27FC236}">
                  <a16:creationId xmlns:a16="http://schemas.microsoft.com/office/drawing/2014/main" id="{E5700C98-4DF2-B74E-045E-8C4D2963E844}"/>
                </a:ext>
              </a:extLst>
            </p:cNvPr>
            <p:cNvSpPr txBox="1"/>
            <p:nvPr/>
          </p:nvSpPr>
          <p:spPr>
            <a:xfrm>
              <a:off x="940781" y="1635665"/>
              <a:ext cx="333375" cy="37973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B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0" name="Zone de texte 22">
              <a:extLst>
                <a:ext uri="{FF2B5EF4-FFF2-40B4-BE49-F238E27FC236}">
                  <a16:creationId xmlns:a16="http://schemas.microsoft.com/office/drawing/2014/main" id="{A8A9488B-F91F-9128-BDCB-4F87531E828E}"/>
                </a:ext>
              </a:extLst>
            </p:cNvPr>
            <p:cNvSpPr txBox="1"/>
            <p:nvPr/>
          </p:nvSpPr>
          <p:spPr>
            <a:xfrm>
              <a:off x="1269965" y="2045262"/>
              <a:ext cx="333375" cy="37909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 dirty="0" err="1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fr-FR" sz="1200" baseline="-25000" dirty="0" err="1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C</a:t>
              </a:r>
              <a:endParaRPr lang="fr-F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31" name="Connecteur droit avec flèche 30">
              <a:extLst>
                <a:ext uri="{FF2B5EF4-FFF2-40B4-BE49-F238E27FC236}">
                  <a16:creationId xmlns:a16="http://schemas.microsoft.com/office/drawing/2014/main" id="{43A60653-DFBB-94B6-2DF6-A3A913876166}"/>
                </a:ext>
              </a:extLst>
            </p:cNvPr>
            <p:cNvCxnSpPr/>
            <p:nvPr/>
          </p:nvCxnSpPr>
          <p:spPr>
            <a:xfrm>
              <a:off x="1016812" y="385530"/>
              <a:ext cx="76953" cy="0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 droit avec flèche 31">
              <a:extLst>
                <a:ext uri="{FF2B5EF4-FFF2-40B4-BE49-F238E27FC236}">
                  <a16:creationId xmlns:a16="http://schemas.microsoft.com/office/drawing/2014/main" id="{B516BF22-A233-ABD4-ACE3-A861407ADE89}"/>
                </a:ext>
              </a:extLst>
            </p:cNvPr>
            <p:cNvCxnSpPr/>
            <p:nvPr/>
          </p:nvCxnSpPr>
          <p:spPr>
            <a:xfrm>
              <a:off x="1342937" y="1187237"/>
              <a:ext cx="76835" cy="0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avec flèche 32">
              <a:extLst>
                <a:ext uri="{FF2B5EF4-FFF2-40B4-BE49-F238E27FC236}">
                  <a16:creationId xmlns:a16="http://schemas.microsoft.com/office/drawing/2014/main" id="{2BE49009-5D4F-08DA-00F8-9C508B9EEC4F}"/>
                </a:ext>
              </a:extLst>
            </p:cNvPr>
            <p:cNvCxnSpPr/>
            <p:nvPr/>
          </p:nvCxnSpPr>
          <p:spPr>
            <a:xfrm>
              <a:off x="1694069" y="1974226"/>
              <a:ext cx="76835" cy="0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Zone de texte 22">
              <a:extLst>
                <a:ext uri="{FF2B5EF4-FFF2-40B4-BE49-F238E27FC236}">
                  <a16:creationId xmlns:a16="http://schemas.microsoft.com/office/drawing/2014/main" id="{DBBE8547-C1B7-FF86-AB17-823164E2FDD2}"/>
                </a:ext>
              </a:extLst>
            </p:cNvPr>
            <p:cNvSpPr txBox="1"/>
            <p:nvPr/>
          </p:nvSpPr>
          <p:spPr>
            <a:xfrm>
              <a:off x="964530" y="70204"/>
              <a:ext cx="305435" cy="37973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 dirty="0" err="1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fr-FR" sz="1200" baseline="-25000" dirty="0" err="1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A</a:t>
              </a:r>
              <a:endParaRPr lang="fr-F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5" name="Zone de texte 22">
              <a:extLst>
                <a:ext uri="{FF2B5EF4-FFF2-40B4-BE49-F238E27FC236}">
                  <a16:creationId xmlns:a16="http://schemas.microsoft.com/office/drawing/2014/main" id="{446B431B-38BE-3B04-7AF0-C3A8B9738969}"/>
                </a:ext>
              </a:extLst>
            </p:cNvPr>
            <p:cNvSpPr txBox="1"/>
            <p:nvPr/>
          </p:nvSpPr>
          <p:spPr>
            <a:xfrm>
              <a:off x="1269965" y="839084"/>
              <a:ext cx="299720" cy="37909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B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6" name="Zone de texte 22">
              <a:extLst>
                <a:ext uri="{FF2B5EF4-FFF2-40B4-BE49-F238E27FC236}">
                  <a16:creationId xmlns:a16="http://schemas.microsoft.com/office/drawing/2014/main" id="{1FEBC67D-449C-6E10-D07C-154291E69860}"/>
                </a:ext>
              </a:extLst>
            </p:cNvPr>
            <p:cNvSpPr txBox="1"/>
            <p:nvPr/>
          </p:nvSpPr>
          <p:spPr>
            <a:xfrm>
              <a:off x="1619816" y="1642661"/>
              <a:ext cx="299720" cy="37846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C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7" name="Zone de texte 22">
              <a:extLst>
                <a:ext uri="{FF2B5EF4-FFF2-40B4-BE49-F238E27FC236}">
                  <a16:creationId xmlns:a16="http://schemas.microsoft.com/office/drawing/2014/main" id="{E55ED788-F08E-DFF9-7D59-B86152F8E8A4}"/>
                </a:ext>
              </a:extLst>
            </p:cNvPr>
            <p:cNvSpPr txBox="1"/>
            <p:nvPr/>
          </p:nvSpPr>
          <p:spPr>
            <a:xfrm>
              <a:off x="531130" y="2301401"/>
              <a:ext cx="299720" cy="37909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N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38" name="Connecteur droit avec flèche 37">
              <a:extLst>
                <a:ext uri="{FF2B5EF4-FFF2-40B4-BE49-F238E27FC236}">
                  <a16:creationId xmlns:a16="http://schemas.microsoft.com/office/drawing/2014/main" id="{53093F03-F683-DFA1-804A-FAC31E9708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22191" y="1632667"/>
              <a:ext cx="4844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Zone de texte 22">
              <a:extLst>
                <a:ext uri="{FF2B5EF4-FFF2-40B4-BE49-F238E27FC236}">
                  <a16:creationId xmlns:a16="http://schemas.microsoft.com/office/drawing/2014/main" id="{23FEE5AF-CD52-28C7-CD50-0D68C5289492}"/>
                </a:ext>
              </a:extLst>
            </p:cNvPr>
            <p:cNvSpPr txBox="1"/>
            <p:nvPr/>
          </p:nvSpPr>
          <p:spPr>
            <a:xfrm>
              <a:off x="3405213" y="1569883"/>
              <a:ext cx="367665" cy="37973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 dirty="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fr-FR" sz="1200" baseline="-25000" dirty="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R</a:t>
              </a:r>
              <a:endParaRPr lang="fr-F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0" name="Zone de texte 22">
              <a:extLst>
                <a:ext uri="{FF2B5EF4-FFF2-40B4-BE49-F238E27FC236}">
                  <a16:creationId xmlns:a16="http://schemas.microsoft.com/office/drawing/2014/main" id="{AD3C8CFC-BE45-B241-3908-50CC43CF4A31}"/>
                </a:ext>
              </a:extLst>
            </p:cNvPr>
            <p:cNvSpPr txBox="1"/>
            <p:nvPr/>
          </p:nvSpPr>
          <p:spPr>
            <a:xfrm>
              <a:off x="3359721" y="1190788"/>
              <a:ext cx="307975" cy="37909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R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41" name="Connecteur droit avec flèche 40">
              <a:extLst>
                <a:ext uri="{FF2B5EF4-FFF2-40B4-BE49-F238E27FC236}">
                  <a16:creationId xmlns:a16="http://schemas.microsoft.com/office/drawing/2014/main" id="{E0CB2CDE-A918-1375-9757-6AE1CA20F9AE}"/>
                </a:ext>
              </a:extLst>
            </p:cNvPr>
            <p:cNvCxnSpPr/>
            <p:nvPr/>
          </p:nvCxnSpPr>
          <p:spPr>
            <a:xfrm flipH="1" flipV="1">
              <a:off x="3386843" y="1337624"/>
              <a:ext cx="0" cy="72000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Zone de dessin 23">
            <a:extLst>
              <a:ext uri="{FF2B5EF4-FFF2-40B4-BE49-F238E27FC236}">
                <a16:creationId xmlns:a16="http://schemas.microsoft.com/office/drawing/2014/main" id="{24930E03-D0EE-3FB2-A552-1300AC886277}"/>
              </a:ext>
            </a:extLst>
          </p:cNvPr>
          <p:cNvGrpSpPr/>
          <p:nvPr/>
        </p:nvGrpSpPr>
        <p:grpSpPr>
          <a:xfrm>
            <a:off x="3352800" y="2050097"/>
            <a:ext cx="5486400" cy="2757805"/>
            <a:chOff x="0" y="0"/>
            <a:chExt cx="5486400" cy="2757805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34DF876-E8E7-D8EE-CA88-BC381DF2F3AA}"/>
                </a:ext>
              </a:extLst>
            </p:cNvPr>
            <p:cNvSpPr/>
            <p:nvPr/>
          </p:nvSpPr>
          <p:spPr>
            <a:xfrm>
              <a:off x="0" y="0"/>
              <a:ext cx="5486400" cy="2757805"/>
            </a:xfrm>
            <a:prstGeom prst="rect">
              <a:avLst/>
            </a:prstGeom>
          </p:spPr>
          <p:txBody>
            <a:bodyPr/>
            <a:lstStyle/>
            <a:p>
              <a:endParaRPr lang="fr-FR"/>
            </a:p>
          </p:txBody>
        </p:sp>
        <p:pic>
          <p:nvPicPr>
            <p:cNvPr id="44" name="Image 43">
              <a:extLst>
                <a:ext uri="{FF2B5EF4-FFF2-40B4-BE49-F238E27FC236}">
                  <a16:creationId xmlns:a16="http://schemas.microsoft.com/office/drawing/2014/main" id="{279F2CA5-30ED-6DA7-6A14-CB9C4CF194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1258" y="219453"/>
              <a:ext cx="3280156" cy="2375492"/>
            </a:xfrm>
            <a:prstGeom prst="rect">
              <a:avLst/>
            </a:prstGeom>
          </p:spPr>
        </p:pic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FDD13911-4850-1794-39F6-85AB0B438542}"/>
                </a:ext>
              </a:extLst>
            </p:cNvPr>
            <p:cNvSpPr/>
            <p:nvPr/>
          </p:nvSpPr>
          <p:spPr>
            <a:xfrm rot="796832">
              <a:off x="2294314" y="519767"/>
              <a:ext cx="481224" cy="597905"/>
            </a:xfrm>
            <a:prstGeom prst="arc">
              <a:avLst>
                <a:gd name="adj1" fmla="val 16200000"/>
                <a:gd name="adj2" fmla="val 3889591"/>
              </a:avLst>
            </a:prstGeom>
            <a:ln w="3175">
              <a:solidFill>
                <a:schemeClr val="tx1"/>
              </a:solidFill>
              <a:prstDash val="dash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46" name="Arc 45">
              <a:extLst>
                <a:ext uri="{FF2B5EF4-FFF2-40B4-BE49-F238E27FC236}">
                  <a16:creationId xmlns:a16="http://schemas.microsoft.com/office/drawing/2014/main" id="{A7F0D13F-D2C5-4161-70BF-DE2E6304986E}"/>
                </a:ext>
              </a:extLst>
            </p:cNvPr>
            <p:cNvSpPr/>
            <p:nvPr/>
          </p:nvSpPr>
          <p:spPr>
            <a:xfrm rot="1061642">
              <a:off x="2318225" y="1306091"/>
              <a:ext cx="480695" cy="597535"/>
            </a:xfrm>
            <a:prstGeom prst="arc">
              <a:avLst>
                <a:gd name="adj1" fmla="val 16200000"/>
                <a:gd name="adj2" fmla="val 3889591"/>
              </a:avLst>
            </a:prstGeom>
            <a:ln w="3175">
              <a:solidFill>
                <a:schemeClr val="tx1"/>
              </a:solidFill>
              <a:prstDash val="dash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31E8201C-98FE-1393-12DD-6E000575088A}"/>
                </a:ext>
              </a:extLst>
            </p:cNvPr>
            <p:cNvSpPr/>
            <p:nvPr/>
          </p:nvSpPr>
          <p:spPr>
            <a:xfrm flipH="1">
              <a:off x="1919536" y="449933"/>
              <a:ext cx="509513" cy="1388883"/>
            </a:xfrm>
            <a:prstGeom prst="arc">
              <a:avLst>
                <a:gd name="adj1" fmla="val 16200000"/>
                <a:gd name="adj2" fmla="val 5285305"/>
              </a:avLst>
            </a:prstGeom>
            <a:ln w="3175">
              <a:solidFill>
                <a:schemeClr val="tx1"/>
              </a:solidFill>
              <a:prstDash val="dash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48" name="Zone de texte 22">
              <a:extLst>
                <a:ext uri="{FF2B5EF4-FFF2-40B4-BE49-F238E27FC236}">
                  <a16:creationId xmlns:a16="http://schemas.microsoft.com/office/drawing/2014/main" id="{1F59F518-8571-72DB-A965-08BE6129BD31}"/>
                </a:ext>
              </a:extLst>
            </p:cNvPr>
            <p:cNvSpPr txBox="1"/>
            <p:nvPr/>
          </p:nvSpPr>
          <p:spPr>
            <a:xfrm>
              <a:off x="1514533" y="677652"/>
              <a:ext cx="466090" cy="38100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M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AC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9" name="Zone de texte 22">
              <a:extLst>
                <a:ext uri="{FF2B5EF4-FFF2-40B4-BE49-F238E27FC236}">
                  <a16:creationId xmlns:a16="http://schemas.microsoft.com/office/drawing/2014/main" id="{6B5997FB-D29C-025D-30E3-E7551777BEC3}"/>
                </a:ext>
              </a:extLst>
            </p:cNvPr>
            <p:cNvSpPr txBox="1"/>
            <p:nvPr/>
          </p:nvSpPr>
          <p:spPr>
            <a:xfrm>
              <a:off x="2325061" y="561445"/>
              <a:ext cx="466090" cy="38100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M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AB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50" name="Zone de texte 22">
              <a:extLst>
                <a:ext uri="{FF2B5EF4-FFF2-40B4-BE49-F238E27FC236}">
                  <a16:creationId xmlns:a16="http://schemas.microsoft.com/office/drawing/2014/main" id="{A6D12F97-EADC-4E27-76A4-7EE3DC7285C5}"/>
                </a:ext>
              </a:extLst>
            </p:cNvPr>
            <p:cNvSpPr txBox="1"/>
            <p:nvPr/>
          </p:nvSpPr>
          <p:spPr>
            <a:xfrm>
              <a:off x="2341890" y="1305916"/>
              <a:ext cx="460375" cy="38100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M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BC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51" name="Zone de texte 22">
              <a:extLst>
                <a:ext uri="{FF2B5EF4-FFF2-40B4-BE49-F238E27FC236}">
                  <a16:creationId xmlns:a16="http://schemas.microsoft.com/office/drawing/2014/main" id="{5641CF62-234D-23A5-7AF8-02240F4C23E0}"/>
                </a:ext>
              </a:extLst>
            </p:cNvPr>
            <p:cNvSpPr txBox="1"/>
            <p:nvPr/>
          </p:nvSpPr>
          <p:spPr>
            <a:xfrm>
              <a:off x="2232074" y="6853"/>
              <a:ext cx="356235" cy="38100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L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A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52" name="Zone de texte 22">
              <a:extLst>
                <a:ext uri="{FF2B5EF4-FFF2-40B4-BE49-F238E27FC236}">
                  <a16:creationId xmlns:a16="http://schemas.microsoft.com/office/drawing/2014/main" id="{7B48DD86-19FE-2555-6B73-33D395E7EA11}"/>
                </a:ext>
              </a:extLst>
            </p:cNvPr>
            <p:cNvSpPr txBox="1"/>
            <p:nvPr/>
          </p:nvSpPr>
          <p:spPr>
            <a:xfrm>
              <a:off x="2202762" y="809862"/>
              <a:ext cx="350520" cy="38100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L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B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53" name="Zone de texte 22">
              <a:extLst>
                <a:ext uri="{FF2B5EF4-FFF2-40B4-BE49-F238E27FC236}">
                  <a16:creationId xmlns:a16="http://schemas.microsoft.com/office/drawing/2014/main" id="{522A32C2-4286-0A21-6814-9D7E42375EA3}"/>
                </a:ext>
              </a:extLst>
            </p:cNvPr>
            <p:cNvSpPr txBox="1"/>
            <p:nvPr/>
          </p:nvSpPr>
          <p:spPr>
            <a:xfrm>
              <a:off x="2234614" y="1613015"/>
              <a:ext cx="350520" cy="38100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L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C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54" name="Zone de texte 22">
              <a:extLst>
                <a:ext uri="{FF2B5EF4-FFF2-40B4-BE49-F238E27FC236}">
                  <a16:creationId xmlns:a16="http://schemas.microsoft.com/office/drawing/2014/main" id="{35D62C9D-A941-2733-35FE-67DB1193A246}"/>
                </a:ext>
              </a:extLst>
            </p:cNvPr>
            <p:cNvSpPr txBox="1"/>
            <p:nvPr/>
          </p:nvSpPr>
          <p:spPr>
            <a:xfrm>
              <a:off x="3699487" y="837225"/>
              <a:ext cx="350520" cy="38100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L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R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55" name="Arc 54">
              <a:extLst>
                <a:ext uri="{FF2B5EF4-FFF2-40B4-BE49-F238E27FC236}">
                  <a16:creationId xmlns:a16="http://schemas.microsoft.com/office/drawing/2014/main" id="{1BB9159F-2B8B-661B-4531-FB3C320482B6}"/>
                </a:ext>
              </a:extLst>
            </p:cNvPr>
            <p:cNvSpPr/>
            <p:nvPr/>
          </p:nvSpPr>
          <p:spPr>
            <a:xfrm rot="19791971">
              <a:off x="2709455" y="153134"/>
              <a:ext cx="779704" cy="1140828"/>
            </a:xfrm>
            <a:prstGeom prst="arc">
              <a:avLst>
                <a:gd name="adj1" fmla="val 15664811"/>
                <a:gd name="adj2" fmla="val 3889591"/>
              </a:avLst>
            </a:prstGeom>
            <a:ln w="9525">
              <a:solidFill>
                <a:schemeClr val="tx1"/>
              </a:solidFill>
              <a:prstDash val="lgDashDot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56" name="Zone de texte 22">
              <a:extLst>
                <a:ext uri="{FF2B5EF4-FFF2-40B4-BE49-F238E27FC236}">
                  <a16:creationId xmlns:a16="http://schemas.microsoft.com/office/drawing/2014/main" id="{ACE08DDF-1E3D-FD63-AFA4-DA74153C3797}"/>
                </a:ext>
              </a:extLst>
            </p:cNvPr>
            <p:cNvSpPr txBox="1"/>
            <p:nvPr/>
          </p:nvSpPr>
          <p:spPr>
            <a:xfrm>
              <a:off x="3270863" y="165713"/>
              <a:ext cx="466090" cy="38100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M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AR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57" name="Arc 56">
              <a:extLst>
                <a:ext uri="{FF2B5EF4-FFF2-40B4-BE49-F238E27FC236}">
                  <a16:creationId xmlns:a16="http://schemas.microsoft.com/office/drawing/2014/main" id="{AD3250E9-385D-B3F4-B6BC-E4522E5B1EC0}"/>
                </a:ext>
              </a:extLst>
            </p:cNvPr>
            <p:cNvSpPr/>
            <p:nvPr/>
          </p:nvSpPr>
          <p:spPr>
            <a:xfrm rot="14485028" flipH="1">
              <a:off x="2718708" y="1090220"/>
              <a:ext cx="901900" cy="1247717"/>
            </a:xfrm>
            <a:prstGeom prst="arc">
              <a:avLst>
                <a:gd name="adj1" fmla="val 16266874"/>
                <a:gd name="adj2" fmla="val 5628696"/>
              </a:avLst>
            </a:prstGeom>
            <a:ln w="9525">
              <a:solidFill>
                <a:schemeClr val="tx1"/>
              </a:solidFill>
              <a:prstDash val="lgDashDot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58" name="Zone de texte 22">
              <a:extLst>
                <a:ext uri="{FF2B5EF4-FFF2-40B4-BE49-F238E27FC236}">
                  <a16:creationId xmlns:a16="http://schemas.microsoft.com/office/drawing/2014/main" id="{DCF9A707-C744-6150-B380-B2A9FAD32609}"/>
                </a:ext>
              </a:extLst>
            </p:cNvPr>
            <p:cNvSpPr txBox="1"/>
            <p:nvPr/>
          </p:nvSpPr>
          <p:spPr>
            <a:xfrm>
              <a:off x="3124559" y="1725404"/>
              <a:ext cx="460375" cy="38100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M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CR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2547B3C0-C52F-C15D-0410-2B8550902F3B}"/>
                </a:ext>
              </a:extLst>
            </p:cNvPr>
            <p:cNvSpPr/>
            <p:nvPr/>
          </p:nvSpPr>
          <p:spPr>
            <a:xfrm rot="16859157">
              <a:off x="2965147" y="775723"/>
              <a:ext cx="200987" cy="734337"/>
            </a:xfrm>
            <a:prstGeom prst="arc">
              <a:avLst>
                <a:gd name="adj1" fmla="val 16029345"/>
                <a:gd name="adj2" fmla="val 4874503"/>
              </a:avLst>
            </a:prstGeom>
            <a:ln w="9525">
              <a:solidFill>
                <a:schemeClr val="tx1"/>
              </a:solidFill>
              <a:prstDash val="lgDashDot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60" name="Zone de texte 22">
              <a:extLst>
                <a:ext uri="{FF2B5EF4-FFF2-40B4-BE49-F238E27FC236}">
                  <a16:creationId xmlns:a16="http://schemas.microsoft.com/office/drawing/2014/main" id="{3C35833E-3D50-D531-9DC3-253818447E07}"/>
                </a:ext>
              </a:extLst>
            </p:cNvPr>
            <p:cNvSpPr txBox="1"/>
            <p:nvPr/>
          </p:nvSpPr>
          <p:spPr>
            <a:xfrm>
              <a:off x="2927963" y="746737"/>
              <a:ext cx="460375" cy="38100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M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BR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61" name="Connecteur droit avec flèche 60">
              <a:extLst>
                <a:ext uri="{FF2B5EF4-FFF2-40B4-BE49-F238E27FC236}">
                  <a16:creationId xmlns:a16="http://schemas.microsoft.com/office/drawing/2014/main" id="{E6498AC7-3D94-C2B5-9880-5BD0657EA3FA}"/>
                </a:ext>
              </a:extLst>
            </p:cNvPr>
            <p:cNvCxnSpPr/>
            <p:nvPr/>
          </p:nvCxnSpPr>
          <p:spPr>
            <a:xfrm flipH="1" flipV="1">
              <a:off x="879895" y="482496"/>
              <a:ext cx="0" cy="201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eur droit avec flèche 61">
              <a:extLst>
                <a:ext uri="{FF2B5EF4-FFF2-40B4-BE49-F238E27FC236}">
                  <a16:creationId xmlns:a16="http://schemas.microsoft.com/office/drawing/2014/main" id="{F8CA9125-6B65-F396-256A-3DB488C0E58B}"/>
                </a:ext>
              </a:extLst>
            </p:cNvPr>
            <p:cNvCxnSpPr/>
            <p:nvPr/>
          </p:nvCxnSpPr>
          <p:spPr>
            <a:xfrm flipV="1">
              <a:off x="1233109" y="1238247"/>
              <a:ext cx="0" cy="12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avec flèche 62">
              <a:extLst>
                <a:ext uri="{FF2B5EF4-FFF2-40B4-BE49-F238E27FC236}">
                  <a16:creationId xmlns:a16="http://schemas.microsoft.com/office/drawing/2014/main" id="{4DA4DFA2-C3FC-2F68-E199-8A7EEB3DC027}"/>
                </a:ext>
              </a:extLst>
            </p:cNvPr>
            <p:cNvCxnSpPr/>
            <p:nvPr/>
          </p:nvCxnSpPr>
          <p:spPr>
            <a:xfrm flipV="1">
              <a:off x="1566154" y="2030242"/>
              <a:ext cx="0" cy="468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Zone de texte 22">
              <a:extLst>
                <a:ext uri="{FF2B5EF4-FFF2-40B4-BE49-F238E27FC236}">
                  <a16:creationId xmlns:a16="http://schemas.microsoft.com/office/drawing/2014/main" id="{F6E2A199-5420-0CD8-5383-007F2B31CF76}"/>
                </a:ext>
              </a:extLst>
            </p:cNvPr>
            <p:cNvSpPr txBox="1"/>
            <p:nvPr/>
          </p:nvSpPr>
          <p:spPr>
            <a:xfrm>
              <a:off x="604282" y="1190788"/>
              <a:ext cx="339090" cy="38036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A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65" name="Zone de texte 22">
              <a:extLst>
                <a:ext uri="{FF2B5EF4-FFF2-40B4-BE49-F238E27FC236}">
                  <a16:creationId xmlns:a16="http://schemas.microsoft.com/office/drawing/2014/main" id="{F3AA9C95-3832-A1AD-FA7C-36ECDB6BB4AD}"/>
                </a:ext>
              </a:extLst>
            </p:cNvPr>
            <p:cNvSpPr txBox="1"/>
            <p:nvPr/>
          </p:nvSpPr>
          <p:spPr>
            <a:xfrm>
              <a:off x="940781" y="1635665"/>
              <a:ext cx="333375" cy="37973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B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66" name="Zone de texte 22">
              <a:extLst>
                <a:ext uri="{FF2B5EF4-FFF2-40B4-BE49-F238E27FC236}">
                  <a16:creationId xmlns:a16="http://schemas.microsoft.com/office/drawing/2014/main" id="{02C432CA-7275-2E0F-FC08-C8D3F6A02C19}"/>
                </a:ext>
              </a:extLst>
            </p:cNvPr>
            <p:cNvSpPr txBox="1"/>
            <p:nvPr/>
          </p:nvSpPr>
          <p:spPr>
            <a:xfrm>
              <a:off x="1269965" y="2045262"/>
              <a:ext cx="333375" cy="37909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C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67" name="Connecteur droit avec flèche 66">
              <a:extLst>
                <a:ext uri="{FF2B5EF4-FFF2-40B4-BE49-F238E27FC236}">
                  <a16:creationId xmlns:a16="http://schemas.microsoft.com/office/drawing/2014/main" id="{15AC7444-5D63-5EB6-DDFE-38EE8BD6D1D5}"/>
                </a:ext>
              </a:extLst>
            </p:cNvPr>
            <p:cNvCxnSpPr/>
            <p:nvPr/>
          </p:nvCxnSpPr>
          <p:spPr>
            <a:xfrm>
              <a:off x="1016812" y="385530"/>
              <a:ext cx="76953" cy="0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eur droit avec flèche 67">
              <a:extLst>
                <a:ext uri="{FF2B5EF4-FFF2-40B4-BE49-F238E27FC236}">
                  <a16:creationId xmlns:a16="http://schemas.microsoft.com/office/drawing/2014/main" id="{12A1E3C5-3FC5-39DB-986F-BCD2E8B93D86}"/>
                </a:ext>
              </a:extLst>
            </p:cNvPr>
            <p:cNvCxnSpPr/>
            <p:nvPr/>
          </p:nvCxnSpPr>
          <p:spPr>
            <a:xfrm>
              <a:off x="1342937" y="1187237"/>
              <a:ext cx="76835" cy="0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eur droit avec flèche 68">
              <a:extLst>
                <a:ext uri="{FF2B5EF4-FFF2-40B4-BE49-F238E27FC236}">
                  <a16:creationId xmlns:a16="http://schemas.microsoft.com/office/drawing/2014/main" id="{2F7CDEC0-D785-973A-244E-76176576DF31}"/>
                </a:ext>
              </a:extLst>
            </p:cNvPr>
            <p:cNvCxnSpPr/>
            <p:nvPr/>
          </p:nvCxnSpPr>
          <p:spPr>
            <a:xfrm>
              <a:off x="1694069" y="1974226"/>
              <a:ext cx="76835" cy="0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Zone de texte 22">
              <a:extLst>
                <a:ext uri="{FF2B5EF4-FFF2-40B4-BE49-F238E27FC236}">
                  <a16:creationId xmlns:a16="http://schemas.microsoft.com/office/drawing/2014/main" id="{5B7DE786-CDA2-EEBB-DBC6-BB09343572C4}"/>
                </a:ext>
              </a:extLst>
            </p:cNvPr>
            <p:cNvSpPr txBox="1"/>
            <p:nvPr/>
          </p:nvSpPr>
          <p:spPr>
            <a:xfrm>
              <a:off x="964530" y="70204"/>
              <a:ext cx="305435" cy="37973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A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71" name="Zone de texte 22">
              <a:extLst>
                <a:ext uri="{FF2B5EF4-FFF2-40B4-BE49-F238E27FC236}">
                  <a16:creationId xmlns:a16="http://schemas.microsoft.com/office/drawing/2014/main" id="{640CEC50-26BD-04D0-FCC9-B7266DC71E9D}"/>
                </a:ext>
              </a:extLst>
            </p:cNvPr>
            <p:cNvSpPr txBox="1"/>
            <p:nvPr/>
          </p:nvSpPr>
          <p:spPr>
            <a:xfrm>
              <a:off x="1269965" y="839084"/>
              <a:ext cx="299720" cy="37909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B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72" name="Zone de texte 22">
              <a:extLst>
                <a:ext uri="{FF2B5EF4-FFF2-40B4-BE49-F238E27FC236}">
                  <a16:creationId xmlns:a16="http://schemas.microsoft.com/office/drawing/2014/main" id="{99171F7A-3BD6-444B-2819-3AB4B23CA99B}"/>
                </a:ext>
              </a:extLst>
            </p:cNvPr>
            <p:cNvSpPr txBox="1"/>
            <p:nvPr/>
          </p:nvSpPr>
          <p:spPr>
            <a:xfrm>
              <a:off x="1619816" y="1642661"/>
              <a:ext cx="299720" cy="37846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C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73" name="Zone de texte 22">
              <a:extLst>
                <a:ext uri="{FF2B5EF4-FFF2-40B4-BE49-F238E27FC236}">
                  <a16:creationId xmlns:a16="http://schemas.microsoft.com/office/drawing/2014/main" id="{6B25E060-02E3-12FD-3082-8758E5E045C9}"/>
                </a:ext>
              </a:extLst>
            </p:cNvPr>
            <p:cNvSpPr txBox="1"/>
            <p:nvPr/>
          </p:nvSpPr>
          <p:spPr>
            <a:xfrm>
              <a:off x="531130" y="2301401"/>
              <a:ext cx="299720" cy="37909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N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74" name="Connecteur droit avec flèche 73">
              <a:extLst>
                <a:ext uri="{FF2B5EF4-FFF2-40B4-BE49-F238E27FC236}">
                  <a16:creationId xmlns:a16="http://schemas.microsoft.com/office/drawing/2014/main" id="{B4CA7486-3EFA-B6B9-53E5-9A68994E0789}"/>
                </a:ext>
              </a:extLst>
            </p:cNvPr>
            <p:cNvCxnSpPr/>
            <p:nvPr/>
          </p:nvCxnSpPr>
          <p:spPr>
            <a:xfrm>
              <a:off x="3434628" y="1635704"/>
              <a:ext cx="468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Zone de texte 22">
              <a:extLst>
                <a:ext uri="{FF2B5EF4-FFF2-40B4-BE49-F238E27FC236}">
                  <a16:creationId xmlns:a16="http://schemas.microsoft.com/office/drawing/2014/main" id="{07414E01-9964-A0A2-8806-576B58FACA17}"/>
                </a:ext>
              </a:extLst>
            </p:cNvPr>
            <p:cNvSpPr txBox="1"/>
            <p:nvPr/>
          </p:nvSpPr>
          <p:spPr>
            <a:xfrm>
              <a:off x="3722831" y="1569167"/>
              <a:ext cx="367665" cy="37973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R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76" name="Zone de texte 22">
              <a:extLst>
                <a:ext uri="{FF2B5EF4-FFF2-40B4-BE49-F238E27FC236}">
                  <a16:creationId xmlns:a16="http://schemas.microsoft.com/office/drawing/2014/main" id="{0AC7C076-9A68-7B56-F082-C89D67EA5E6C}"/>
                </a:ext>
              </a:extLst>
            </p:cNvPr>
            <p:cNvSpPr txBox="1"/>
            <p:nvPr/>
          </p:nvSpPr>
          <p:spPr>
            <a:xfrm>
              <a:off x="3918067" y="1254634"/>
              <a:ext cx="307975" cy="37909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fr-FR" sz="12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fr-FR" sz="1200" baseline="-25000"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R</a:t>
              </a:r>
              <a:endParaRPr lang="fr-FR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77" name="Connecteur droit avec flèche 76">
              <a:extLst>
                <a:ext uri="{FF2B5EF4-FFF2-40B4-BE49-F238E27FC236}">
                  <a16:creationId xmlns:a16="http://schemas.microsoft.com/office/drawing/2014/main" id="{7CDF23B5-C2C3-A6EB-CB68-6D82D0559328}"/>
                </a:ext>
              </a:extLst>
            </p:cNvPr>
            <p:cNvCxnSpPr/>
            <p:nvPr/>
          </p:nvCxnSpPr>
          <p:spPr>
            <a:xfrm flipH="1" flipV="1">
              <a:off x="3945189" y="1401470"/>
              <a:ext cx="0" cy="72000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52073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F60FE-E0DF-C0D9-BC83-EFB0C8689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6B686349-B6F9-10B6-9A0B-AB037EB65DB6}"/>
              </a:ext>
            </a:extLst>
          </p:cNvPr>
          <p:cNvCxnSpPr>
            <a:cxnSpLocks/>
          </p:cNvCxnSpPr>
          <p:nvPr/>
        </p:nvCxnSpPr>
        <p:spPr>
          <a:xfrm>
            <a:off x="433459" y="579473"/>
            <a:ext cx="6782830" cy="0"/>
          </a:xfrm>
          <a:prstGeom prst="line">
            <a:avLst/>
          </a:prstGeom>
          <a:ln>
            <a:solidFill>
              <a:srgbClr val="6C0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45D74703-9F20-14A3-26F3-9046014A8460}"/>
              </a:ext>
            </a:extLst>
          </p:cNvPr>
          <p:cNvSpPr txBox="1"/>
          <p:nvPr/>
        </p:nvSpPr>
        <p:spPr>
          <a:xfrm>
            <a:off x="10523839" y="6372307"/>
            <a:ext cx="166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2026-2027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FA2B130-8A4E-6778-07A6-5F8712483DB3}"/>
              </a:ext>
            </a:extLst>
          </p:cNvPr>
          <p:cNvSpPr txBox="1"/>
          <p:nvPr/>
        </p:nvSpPr>
        <p:spPr>
          <a:xfrm>
            <a:off x="370703" y="117808"/>
            <a:ext cx="759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C0042"/>
                </a:solidFill>
              </a:rPr>
              <a:t>Study of a </a:t>
            </a:r>
            <a:r>
              <a:rPr lang="fr-FR" sz="2400" dirty="0" err="1">
                <a:solidFill>
                  <a:srgbClr val="6C0042"/>
                </a:solidFill>
              </a:rPr>
              <a:t>synchronous</a:t>
            </a:r>
            <a:r>
              <a:rPr lang="fr-FR" sz="2400" dirty="0">
                <a:solidFill>
                  <a:srgbClr val="6C0042"/>
                </a:solidFill>
              </a:rPr>
              <a:t> </a:t>
            </a:r>
            <a:r>
              <a:rPr lang="fr-FR" sz="2400" dirty="0" err="1">
                <a:solidFill>
                  <a:srgbClr val="6C0042"/>
                </a:solidFill>
              </a:rPr>
              <a:t>motor</a:t>
            </a:r>
            <a:r>
              <a:rPr lang="fr-FR" sz="2400" dirty="0">
                <a:solidFill>
                  <a:srgbClr val="6C0042"/>
                </a:solidFill>
              </a:rPr>
              <a:t> </a:t>
            </a:r>
            <a:r>
              <a:rPr lang="fr-FR" sz="2400" dirty="0" err="1">
                <a:solidFill>
                  <a:srgbClr val="6C0042"/>
                </a:solidFill>
              </a:rPr>
              <a:t>with</a:t>
            </a:r>
            <a:r>
              <a:rPr lang="fr-FR" sz="2400" dirty="0">
                <a:solidFill>
                  <a:srgbClr val="6C0042"/>
                </a:solidFill>
              </a:rPr>
              <a:t> a </a:t>
            </a:r>
            <a:r>
              <a:rPr lang="fr-FR" sz="2400" dirty="0" err="1">
                <a:solidFill>
                  <a:srgbClr val="6C0042"/>
                </a:solidFill>
              </a:rPr>
              <a:t>wound</a:t>
            </a:r>
            <a:r>
              <a:rPr lang="fr-FR" sz="2400" dirty="0">
                <a:solidFill>
                  <a:srgbClr val="6C0042"/>
                </a:solidFill>
              </a:rPr>
              <a:t> rotor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F539CCE-995E-F20A-F6EF-3695D7D11BBB}"/>
              </a:ext>
            </a:extLst>
          </p:cNvPr>
          <p:cNvSpPr txBox="1"/>
          <p:nvPr/>
        </p:nvSpPr>
        <p:spPr>
          <a:xfrm>
            <a:off x="602129" y="1041138"/>
            <a:ext cx="5020195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 3" panose="05040102010807070707" pitchFamily="18" charset="2"/>
              <a:buChar char="_"/>
            </a:pPr>
            <a:r>
              <a:rPr lang="en-US" sz="2000" dirty="0"/>
              <a:t>Comparisons of the torque components</a:t>
            </a:r>
          </a:p>
          <a:p>
            <a:endParaRPr lang="en-US" sz="2000" dirty="0"/>
          </a:p>
          <a:p>
            <a:r>
              <a:rPr lang="fr-FR" sz="1000" dirty="0" err="1"/>
              <a:t>clear</a:t>
            </a:r>
            <a:r>
              <a:rPr lang="fr-FR" sz="1000" dirty="0"/>
              <a:t> all;</a:t>
            </a:r>
          </a:p>
          <a:p>
            <a:endParaRPr lang="fr-FR" sz="1000" dirty="0"/>
          </a:p>
          <a:p>
            <a:r>
              <a:rPr lang="fr-FR" sz="1000" b="1" dirty="0"/>
              <a:t>%************************ Variables</a:t>
            </a:r>
          </a:p>
          <a:p>
            <a:r>
              <a:rPr lang="fr-FR" sz="1000" dirty="0" err="1"/>
              <a:t>syms</a:t>
            </a:r>
            <a:r>
              <a:rPr lang="fr-FR" sz="1000" dirty="0"/>
              <a:t> La </a:t>
            </a:r>
            <a:r>
              <a:rPr lang="fr-FR" sz="1000" dirty="0" err="1"/>
              <a:t>syms</a:t>
            </a:r>
            <a:r>
              <a:rPr lang="fr-FR" sz="1000" dirty="0"/>
              <a:t> </a:t>
            </a:r>
            <a:r>
              <a:rPr lang="fr-FR" sz="1000" dirty="0" err="1"/>
              <a:t>teta</a:t>
            </a:r>
            <a:r>
              <a:rPr lang="fr-FR" sz="1000" dirty="0"/>
              <a:t> Ia I phi</a:t>
            </a:r>
          </a:p>
          <a:p>
            <a:endParaRPr lang="fr-FR" sz="1000" dirty="0"/>
          </a:p>
          <a:p>
            <a:r>
              <a:rPr lang="fr-FR" sz="1000" b="1" dirty="0"/>
              <a:t>%******************** Phase A </a:t>
            </a:r>
            <a:r>
              <a:rPr lang="fr-FR" sz="1000" b="1" dirty="0" err="1"/>
              <a:t>only</a:t>
            </a:r>
            <a:r>
              <a:rPr lang="fr-FR" sz="1000" b="1" dirty="0"/>
              <a:t> </a:t>
            </a:r>
            <a:r>
              <a:rPr lang="fr-FR" sz="1000" b="1" dirty="0" err="1"/>
              <a:t>powered</a:t>
            </a:r>
            <a:endParaRPr lang="fr-FR" sz="1000" b="1" dirty="0"/>
          </a:p>
          <a:p>
            <a:r>
              <a:rPr lang="fr-FR" sz="1000" dirty="0" err="1"/>
              <a:t>load</a:t>
            </a:r>
            <a:r>
              <a:rPr lang="fr-FR" sz="1000" dirty="0"/>
              <a:t> </a:t>
            </a:r>
            <a:r>
              <a:rPr lang="fr-FR" sz="1000" dirty="0" err="1"/>
              <a:t>flux_abc_A</a:t>
            </a:r>
            <a:r>
              <a:rPr lang="fr-FR" sz="1000" dirty="0"/>
              <a:t>; %</a:t>
            </a:r>
            <a:r>
              <a:rPr lang="fr-FR" sz="1000" dirty="0" err="1"/>
              <a:t>from</a:t>
            </a:r>
            <a:r>
              <a:rPr lang="fr-FR" sz="1000" dirty="0"/>
              <a:t> </a:t>
            </a:r>
            <a:r>
              <a:rPr lang="fr-FR" sz="1000" dirty="0" err="1"/>
              <a:t>Femm</a:t>
            </a:r>
            <a:endParaRPr lang="fr-FR" sz="1000" dirty="0"/>
          </a:p>
          <a:p>
            <a:r>
              <a:rPr lang="fr-FR" sz="1000" dirty="0"/>
              <a:t>temp=max(size(flux));</a:t>
            </a:r>
          </a:p>
          <a:p>
            <a:br>
              <a:rPr lang="fr-FR" sz="1000" dirty="0"/>
            </a:br>
            <a:r>
              <a:rPr lang="fr-FR" sz="1000" dirty="0"/>
              <a:t>L0= xxx;</a:t>
            </a:r>
          </a:p>
          <a:p>
            <a:r>
              <a:rPr lang="fr-FR" sz="1000" dirty="0"/>
              <a:t>L1=xxx;</a:t>
            </a:r>
          </a:p>
          <a:p>
            <a:r>
              <a:rPr lang="fr-FR" sz="1000" dirty="0"/>
              <a:t>aL1a=xxx;</a:t>
            </a:r>
          </a:p>
          <a:p>
            <a:endParaRPr lang="fr-FR" sz="1000" b="1" dirty="0"/>
          </a:p>
          <a:p>
            <a:r>
              <a:rPr lang="fr-FR" sz="1000" b="1" dirty="0"/>
              <a:t>%************************ Inductances </a:t>
            </a:r>
          </a:p>
          <a:p>
            <a:r>
              <a:rPr lang="fr-FR" sz="1000" dirty="0"/>
              <a:t>La=L0+L1*cos(xxx*teta+aL1a); </a:t>
            </a:r>
          </a:p>
          <a:p>
            <a:endParaRPr lang="fr-FR" sz="1000" b="1" dirty="0"/>
          </a:p>
          <a:p>
            <a:r>
              <a:rPr lang="fr-FR" sz="1000" b="1" dirty="0"/>
              <a:t>%************************ Current</a:t>
            </a:r>
          </a:p>
          <a:p>
            <a:r>
              <a:rPr lang="fr-FR" sz="1000" dirty="0"/>
              <a:t>Ia=I*</a:t>
            </a:r>
            <a:r>
              <a:rPr lang="fr-FR" sz="1000"/>
              <a:t>sin(xxx*</a:t>
            </a:r>
            <a:r>
              <a:rPr lang="fr-FR" sz="1000" dirty="0" err="1"/>
              <a:t>teta</a:t>
            </a:r>
            <a:r>
              <a:rPr lang="fr-FR" sz="1000" dirty="0"/>
              <a:t>-phi);</a:t>
            </a:r>
          </a:p>
          <a:p>
            <a:br>
              <a:rPr lang="fr-FR" sz="1000" dirty="0"/>
            </a:br>
            <a:r>
              <a:rPr lang="fr-FR" sz="1000" b="1" dirty="0"/>
              <a:t>%************************ Torque</a:t>
            </a:r>
          </a:p>
          <a:p>
            <a:r>
              <a:rPr lang="fr-FR" sz="1000" dirty="0"/>
              <a:t>CL=0.5*diff(</a:t>
            </a:r>
            <a:r>
              <a:rPr lang="fr-FR" sz="1000" dirty="0" err="1"/>
              <a:t>La,teta</a:t>
            </a:r>
            <a:r>
              <a:rPr lang="fr-FR" sz="1000" dirty="0"/>
              <a:t>)*Ia^2;</a:t>
            </a:r>
          </a:p>
          <a:p>
            <a:endParaRPr lang="fr-FR" sz="1000" dirty="0"/>
          </a:p>
          <a:p>
            <a:r>
              <a:rPr lang="fr-FR" sz="1000" b="1" dirty="0"/>
              <a:t>%******************** Torque </a:t>
            </a:r>
            <a:r>
              <a:rPr lang="fr-FR" sz="1000" b="1" dirty="0" err="1"/>
              <a:t>depending</a:t>
            </a:r>
            <a:r>
              <a:rPr lang="fr-FR" sz="1000" b="1" dirty="0"/>
              <a:t> on </a:t>
            </a:r>
            <a:r>
              <a:rPr lang="fr-FR" sz="1000" b="1" dirty="0" err="1"/>
              <a:t>teta</a:t>
            </a:r>
            <a:r>
              <a:rPr lang="fr-FR" sz="1000" b="1" dirty="0"/>
              <a:t> and </a:t>
            </a:r>
            <a:r>
              <a:rPr lang="fr-FR" sz="1000" b="1" dirty="0" err="1"/>
              <a:t>current</a:t>
            </a:r>
            <a:r>
              <a:rPr lang="fr-FR" sz="1000" b="1" dirty="0"/>
              <a:t> phase shift</a:t>
            </a:r>
          </a:p>
          <a:p>
            <a:r>
              <a:rPr lang="fr-FR" sz="1000" dirty="0"/>
              <a:t>for j=1:1:90</a:t>
            </a:r>
          </a:p>
          <a:p>
            <a:pPr lvl="1"/>
            <a:r>
              <a:rPr lang="fr-FR" sz="1000" dirty="0" err="1"/>
              <a:t>teta</a:t>
            </a:r>
            <a:r>
              <a:rPr lang="fr-FR" sz="1000" dirty="0"/>
              <a:t>=0:2*pi/1000:2*pi;</a:t>
            </a:r>
          </a:p>
          <a:p>
            <a:pPr lvl="1"/>
            <a:r>
              <a:rPr lang="fr-FR" sz="1000" dirty="0"/>
              <a:t>phi=(j-1)*pi/180;</a:t>
            </a:r>
          </a:p>
          <a:p>
            <a:pPr lvl="1"/>
            <a:r>
              <a:rPr lang="fr-FR" sz="1000" dirty="0"/>
              <a:t>I=4; </a:t>
            </a:r>
          </a:p>
          <a:p>
            <a:pPr lvl="1"/>
            <a:r>
              <a:rPr lang="fr-FR" sz="1000" dirty="0"/>
              <a:t>torque=</a:t>
            </a:r>
            <a:r>
              <a:rPr lang="fr-FR" sz="1000" dirty="0" err="1"/>
              <a:t>eval</a:t>
            </a:r>
            <a:r>
              <a:rPr lang="fr-FR" sz="1000" dirty="0"/>
              <a:t>(CL);</a:t>
            </a:r>
          </a:p>
          <a:p>
            <a:pPr lvl="1"/>
            <a:endParaRPr lang="fr-FR" sz="1000" dirty="0"/>
          </a:p>
          <a:p>
            <a:pPr lvl="1"/>
            <a:r>
              <a:rPr lang="fr-FR" sz="1000" dirty="0" err="1"/>
              <a:t>torque_average</a:t>
            </a:r>
            <a:r>
              <a:rPr lang="fr-FR" sz="1000" dirty="0"/>
              <a:t>(j)=</a:t>
            </a:r>
            <a:r>
              <a:rPr lang="fr-FR" sz="1000" dirty="0" err="1"/>
              <a:t>mean</a:t>
            </a:r>
            <a:r>
              <a:rPr lang="fr-FR" sz="1000" dirty="0"/>
              <a:t>(torque); </a:t>
            </a:r>
          </a:p>
          <a:p>
            <a:pPr lvl="1"/>
            <a:r>
              <a:rPr lang="fr-FR" sz="1000" dirty="0"/>
              <a:t>Iphi(j)=phi*180/pi;</a:t>
            </a:r>
          </a:p>
          <a:p>
            <a:r>
              <a:rPr lang="fr-FR" sz="1000" dirty="0"/>
              <a:t>end</a:t>
            </a:r>
            <a:endParaRPr lang="en-US" sz="20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B4C772C-902E-950B-88BB-653372B85E81}"/>
              </a:ext>
            </a:extLst>
          </p:cNvPr>
          <p:cNvSpPr txBox="1"/>
          <p:nvPr/>
        </p:nvSpPr>
        <p:spPr>
          <a:xfrm>
            <a:off x="4704835" y="1954538"/>
            <a:ext cx="609805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b="1" dirty="0"/>
              <a:t>%************************ Curve</a:t>
            </a:r>
            <a:endParaRPr lang="fr-FR" sz="1000" dirty="0"/>
          </a:p>
          <a:p>
            <a:r>
              <a:rPr lang="fr-FR" sz="1000" dirty="0"/>
              <a:t>figure</a:t>
            </a:r>
          </a:p>
          <a:p>
            <a:r>
              <a:rPr lang="fr-FR" sz="1000" dirty="0"/>
              <a:t>plot(Iphi, </a:t>
            </a:r>
            <a:r>
              <a:rPr lang="fr-FR" sz="1000" dirty="0" err="1"/>
              <a:t>torque_average</a:t>
            </a:r>
            <a:r>
              <a:rPr lang="fr-FR" sz="1000" dirty="0"/>
              <a:t>)</a:t>
            </a:r>
          </a:p>
          <a:p>
            <a:r>
              <a:rPr lang="fr-FR" sz="1000" dirty="0" err="1"/>
              <a:t>xlabel</a:t>
            </a:r>
            <a:r>
              <a:rPr lang="fr-FR" sz="1000" dirty="0"/>
              <a:t>('phi (°)')</a:t>
            </a:r>
          </a:p>
          <a:p>
            <a:r>
              <a:rPr lang="fr-FR" sz="1000" dirty="0" err="1"/>
              <a:t>ylabel</a:t>
            </a:r>
            <a:r>
              <a:rPr lang="fr-FR" sz="1000" dirty="0"/>
              <a:t>('Torque (N.m)')</a:t>
            </a:r>
          </a:p>
          <a:p>
            <a:r>
              <a:rPr lang="fr-FR" sz="1000" dirty="0" err="1"/>
              <a:t>title</a:t>
            </a:r>
            <a:r>
              <a:rPr lang="fr-FR" sz="1000" dirty="0"/>
              <a:t>('torque')</a:t>
            </a:r>
          </a:p>
          <a:p>
            <a:r>
              <a:rPr lang="fr-FR" sz="1000" dirty="0" err="1"/>
              <a:t>grid</a:t>
            </a:r>
            <a:r>
              <a:rPr lang="fr-FR" sz="1000" dirty="0"/>
              <a:t> 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5FE352D-1B50-5D96-0009-52C4F477A4D7}"/>
              </a:ext>
            </a:extLst>
          </p:cNvPr>
          <p:cNvSpPr txBox="1"/>
          <p:nvPr/>
        </p:nvSpPr>
        <p:spPr>
          <a:xfrm>
            <a:off x="5854014" y="3429000"/>
            <a:ext cx="6098058" cy="1432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fr-FR" sz="2000" dirty="0"/>
              <a:t>- </a:t>
            </a:r>
            <a:r>
              <a:rPr lang="fr-FR" sz="2000" dirty="0" err="1"/>
              <a:t>Modifiy</a:t>
            </a:r>
            <a:r>
              <a:rPr lang="fr-FR" sz="2000" dirty="0"/>
              <a:t> the </a:t>
            </a:r>
            <a:r>
              <a:rPr lang="fr-FR" sz="2000" dirty="0" err="1"/>
              <a:t>following</a:t>
            </a:r>
            <a:r>
              <a:rPr lang="fr-FR" sz="2000" dirty="0"/>
              <a:t> program for </a:t>
            </a:r>
            <a:r>
              <a:rPr lang="fr-FR" sz="2000" dirty="0" err="1"/>
              <a:t>having</a:t>
            </a:r>
            <a:r>
              <a:rPr lang="fr-FR" sz="2000" dirty="0"/>
              <a:t> the four </a:t>
            </a:r>
          </a:p>
          <a:p>
            <a:pPr lvl="1">
              <a:lnSpc>
                <a:spcPct val="150000"/>
              </a:lnSpc>
            </a:pPr>
            <a:r>
              <a:rPr lang="fr-FR" sz="2000" dirty="0"/>
              <a:t>torque components</a:t>
            </a:r>
          </a:p>
          <a:p>
            <a:pPr lvl="1">
              <a:lnSpc>
                <a:spcPct val="150000"/>
              </a:lnSpc>
            </a:pPr>
            <a:r>
              <a:rPr lang="fr-FR" sz="2000" dirty="0"/>
              <a:t>- </a:t>
            </a:r>
            <a:r>
              <a:rPr lang="fr-FR" sz="2000" dirty="0" err="1"/>
              <a:t>Verify</a:t>
            </a:r>
            <a:r>
              <a:rPr lang="fr-FR" sz="2000" dirty="0"/>
              <a:t> the maximum torque values </a:t>
            </a:r>
            <a:r>
              <a:rPr lang="fr-FR" sz="2000" dirty="0" err="1"/>
              <a:t>with</a:t>
            </a:r>
            <a:r>
              <a:rPr lang="fr-FR" sz="2000" dirty="0"/>
              <a:t> </a:t>
            </a:r>
            <a:r>
              <a:rPr lang="fr-FR" sz="2000" dirty="0" err="1"/>
              <a:t>Femm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76721345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1207</TotalTime>
  <Words>1016</Words>
  <Application>Microsoft Office PowerPoint</Application>
  <PresentationFormat>Grand écran</PresentationFormat>
  <Paragraphs>218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Times</vt:lpstr>
      <vt:lpstr>Times New Roman</vt:lpstr>
      <vt:lpstr>Wingdings 3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Guillaume Krebs</dc:creator>
  <cp:lastModifiedBy>Guillaume Krebs</cp:lastModifiedBy>
  <cp:revision>29</cp:revision>
  <dcterms:created xsi:type="dcterms:W3CDTF">2026-10-04T14:16:19Z</dcterms:created>
  <dcterms:modified xsi:type="dcterms:W3CDTF">2026-10-11T20:15:07Z</dcterms:modified>
</cp:coreProperties>
</file>